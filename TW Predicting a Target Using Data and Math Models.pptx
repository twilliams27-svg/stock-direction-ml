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Roboto"/>
      <p:regular r:id="rId17"/>
      <p:bold r:id="rId18"/>
      <p:italic r:id="rId19"/>
      <p:boldItalic r:id="rId20"/>
    </p:embeddedFont>
    <p:embeddedFont>
      <p:font typeface="Anaheim"/>
      <p:regular r:id="rId21"/>
      <p:bold r:id="rId22"/>
    </p:embeddedFont>
    <p:embeddedFont>
      <p:font typeface="Noto Sans Symbols"/>
      <p:regular r:id="rId23"/>
      <p:bold r:id="rId24"/>
    </p:embeddedFont>
    <p:embeddedFont>
      <p:font typeface="Bricolage Grotesque Medium"/>
      <p:regular r:id="rId25"/>
      <p:bold r:id="rId26"/>
    </p:embeddedFont>
    <p:embeddedFont>
      <p:font typeface="Bricolage Grotesque"/>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C+KybdxJf7k8iZnqbUKdmptHx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Anaheim-bold.fntdata"/><Relationship Id="rId21" Type="http://schemas.openxmlformats.org/officeDocument/2006/relationships/font" Target="fonts/Anaheim-regular.fntdata"/><Relationship Id="rId24" Type="http://schemas.openxmlformats.org/officeDocument/2006/relationships/font" Target="fonts/NotoSansSymbols-bold.fntdata"/><Relationship Id="rId23" Type="http://schemas.openxmlformats.org/officeDocument/2006/relationships/font" Target="fonts/NotoSansSymbol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ricolageGrotesqueMedium-bold.fntdata"/><Relationship Id="rId25" Type="http://schemas.openxmlformats.org/officeDocument/2006/relationships/font" Target="fonts/BricolageGrotesqueMedium-regular.fntdata"/><Relationship Id="rId28" Type="http://schemas.openxmlformats.org/officeDocument/2006/relationships/font" Target="fonts/BricolageGrotesque-bold.fntdata"/><Relationship Id="rId27" Type="http://schemas.openxmlformats.org/officeDocument/2006/relationships/font" Target="fonts/BricolageGrotesque-regular.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slide" Target="slides/slide12.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d76e931d2bae1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d76e931d2bae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14"/>
          <p:cNvSpPr/>
          <p:nvPr/>
        </p:nvSpPr>
        <p:spPr>
          <a:xfrm>
            <a:off x="2189880" y="-369468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8" name="Google Shape;8;p14"/>
          <p:cNvPicPr preferRelativeResize="0"/>
          <p:nvPr/>
        </p:nvPicPr>
        <p:blipFill rotWithShape="1">
          <a:blip r:embed="rId2">
            <a:alphaModFix/>
          </a:blip>
          <a:srcRect b="2907" l="1027" r="38467" t="3590"/>
          <a:stretch/>
        </p:blipFill>
        <p:spPr>
          <a:xfrm>
            <a:off x="177480" y="167040"/>
            <a:ext cx="4394160" cy="4808880"/>
          </a:xfrm>
          <a:prstGeom prst="rect">
            <a:avLst/>
          </a:prstGeom>
          <a:noFill/>
          <a:ln>
            <a:noFill/>
          </a:ln>
        </p:spPr>
      </p:pic>
      <p:sp>
        <p:nvSpPr>
          <p:cNvPr id="9" name="Google Shape;9;p14"/>
          <p:cNvSpPr txBox="1"/>
          <p:nvPr>
            <p:ph type="title"/>
          </p:nvPr>
        </p:nvSpPr>
        <p:spPr>
          <a:xfrm>
            <a:off x="1569960" y="1711080"/>
            <a:ext cx="6003720" cy="17208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type="blank">
  <p:cSld name="BLANK">
    <p:bg>
      <p:bgPr>
        <a:solidFill>
          <a:schemeClr val="lt1"/>
        </a:solidFill>
      </p:bgPr>
    </p:bg>
    <p:spTree>
      <p:nvGrpSpPr>
        <p:cNvPr id="11" name="Shape 11"/>
        <p:cNvGrpSpPr/>
        <p:nvPr/>
      </p:nvGrpSpPr>
      <p:grpSpPr>
        <a:xfrm>
          <a:off x="0" y="0"/>
          <a:ext cx="0" cy="0"/>
          <a:chOff x="0" y="0"/>
          <a:chExt cx="0" cy="0"/>
        </a:xfrm>
      </p:grpSpPr>
      <p:pic>
        <p:nvPicPr>
          <p:cNvPr id="12" name="Google Shape;12;p15"/>
          <p:cNvPicPr preferRelativeResize="0"/>
          <p:nvPr/>
        </p:nvPicPr>
        <p:blipFill rotWithShape="1">
          <a:blip r:embed="rId2">
            <a:alphaModFix/>
          </a:blip>
          <a:srcRect b="2907" l="1027" r="61317" t="3590"/>
          <a:stretch/>
        </p:blipFill>
        <p:spPr>
          <a:xfrm>
            <a:off x="177480" y="167040"/>
            <a:ext cx="2734200" cy="4808880"/>
          </a:xfrm>
          <a:prstGeom prst="rect">
            <a:avLst/>
          </a:prstGeom>
          <a:noFill/>
          <a:ln>
            <a:noFill/>
          </a:ln>
        </p:spPr>
      </p:pic>
      <p:sp>
        <p:nvSpPr>
          <p:cNvPr id="13" name="Google Shape;13;p15"/>
          <p:cNvSpPr txBox="1"/>
          <p:nvPr>
            <p:ph type="title"/>
          </p:nvPr>
        </p:nvSpPr>
        <p:spPr>
          <a:xfrm>
            <a:off x="597600" y="1332000"/>
            <a:ext cx="3589920" cy="24793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5"/>
          <p:cNvSpPr/>
          <p:nvPr/>
        </p:nvSpPr>
        <p:spPr>
          <a:xfrm>
            <a:off x="6144840" y="-355068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 name="Google Shape;15;p1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chemeClr val="lt1"/>
        </a:solidFill>
      </p:bgPr>
    </p:bg>
    <p:spTree>
      <p:nvGrpSpPr>
        <p:cNvPr id="16" name="Shape 16"/>
        <p:cNvGrpSpPr/>
        <p:nvPr/>
      </p:nvGrpSpPr>
      <p:grpSpPr>
        <a:xfrm>
          <a:off x="0" y="0"/>
          <a:ext cx="0" cy="0"/>
          <a:chOff x="0" y="0"/>
          <a:chExt cx="0" cy="0"/>
        </a:xfrm>
      </p:grpSpPr>
      <p:sp>
        <p:nvSpPr>
          <p:cNvPr id="17" name="Google Shape;17;p16"/>
          <p:cNvSpPr txBox="1"/>
          <p:nvPr>
            <p:ph type="title"/>
          </p:nvPr>
        </p:nvSpPr>
        <p:spPr>
          <a:xfrm>
            <a:off x="4627440" y="230040"/>
            <a:ext cx="3905640" cy="7585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 name="Google Shape;18;p16"/>
          <p:cNvSpPr txBox="1"/>
          <p:nvPr>
            <p:ph idx="1" type="body"/>
          </p:nvPr>
        </p:nvSpPr>
        <p:spPr>
          <a:xfrm>
            <a:off x="0" y="0"/>
            <a:ext cx="42944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19" name="Shape 19"/>
        <p:cNvGrpSpPr/>
        <p:nvPr/>
      </p:nvGrpSpPr>
      <p:grpSpPr>
        <a:xfrm>
          <a:off x="0" y="0"/>
          <a:ext cx="0" cy="0"/>
          <a:chOff x="0" y="0"/>
          <a:chExt cx="0" cy="0"/>
        </a:xfrm>
      </p:grpSpPr>
      <p:sp>
        <p:nvSpPr>
          <p:cNvPr id="20" name="Google Shape;20;p17"/>
          <p:cNvSpPr/>
          <p:nvPr/>
        </p:nvSpPr>
        <p:spPr>
          <a:xfrm>
            <a:off x="4689000" y="388440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21" name="Google Shape;21;p17"/>
          <p:cNvPicPr preferRelativeResize="0"/>
          <p:nvPr/>
        </p:nvPicPr>
        <p:blipFill rotWithShape="1">
          <a:blip r:embed="rId2">
            <a:alphaModFix/>
          </a:blip>
          <a:srcRect b="2907" l="16965" r="30236" t="3590"/>
          <a:stretch/>
        </p:blipFill>
        <p:spPr>
          <a:xfrm>
            <a:off x="5135400" y="167040"/>
            <a:ext cx="3834360" cy="4808880"/>
          </a:xfrm>
          <a:prstGeom prst="rect">
            <a:avLst/>
          </a:prstGeom>
          <a:noFill/>
          <a:ln>
            <a:noFill/>
          </a:ln>
        </p:spPr>
      </p:pic>
      <p:sp>
        <p:nvSpPr>
          <p:cNvPr id="22" name="Google Shape;22;p17"/>
          <p:cNvSpPr txBox="1"/>
          <p:nvPr>
            <p:ph type="title"/>
          </p:nvPr>
        </p:nvSpPr>
        <p:spPr>
          <a:xfrm>
            <a:off x="5184720" y="454320"/>
            <a:ext cx="3713760" cy="172908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 name="Google Shape;23;p17"/>
          <p:cNvSpPr/>
          <p:nvPr/>
        </p:nvSpPr>
        <p:spPr>
          <a:xfrm>
            <a:off x="239040" y="3899520"/>
            <a:ext cx="4945320" cy="555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Anaheim"/>
                <a:ea typeface="Anaheim"/>
                <a:cs typeface="Anaheim"/>
                <a:sym typeface="Anaheim"/>
              </a:rPr>
              <a:t>CREDITS:</a:t>
            </a:r>
            <a:r>
              <a:rPr b="0" i="0" lang="en-US" sz="1000" u="none" cap="none" strike="noStrike">
                <a:solidFill>
                  <a:schemeClr val="dk1"/>
                </a:solidFill>
                <a:latin typeface="Anaheim"/>
                <a:ea typeface="Anaheim"/>
                <a:cs typeface="Anaheim"/>
                <a:sym typeface="Anaheim"/>
              </a:rPr>
              <a:t> This presentation template was created by </a:t>
            </a:r>
            <a:r>
              <a:rPr b="1" i="0" lang="en-US" sz="1000" u="sng" cap="none" strike="noStrike">
                <a:solidFill>
                  <a:schemeClr val="hlink"/>
                </a:solidFill>
                <a:latin typeface="Anaheim"/>
                <a:ea typeface="Anaheim"/>
                <a:cs typeface="Anaheim"/>
                <a:sym typeface="Anaheim"/>
                <a:hlinkClick r:id="rId3"/>
              </a:rPr>
              <a:t>Slidesgo</a:t>
            </a:r>
            <a:r>
              <a:rPr b="0" i="0" lang="en-US" sz="1000" u="none" cap="none" strike="noStrike">
                <a:solidFill>
                  <a:schemeClr val="dk1"/>
                </a:solidFill>
                <a:latin typeface="Anaheim"/>
                <a:ea typeface="Anaheim"/>
                <a:cs typeface="Anaheim"/>
                <a:sym typeface="Anaheim"/>
              </a:rPr>
              <a:t>, and includes icons, infographics &amp; images by </a:t>
            </a:r>
            <a:r>
              <a:rPr b="1" i="0" lang="en-US" sz="1000" u="sng" cap="none" strike="noStrike">
                <a:solidFill>
                  <a:schemeClr val="dk1"/>
                </a:solidFill>
                <a:latin typeface="Anaheim"/>
                <a:ea typeface="Anaheim"/>
                <a:cs typeface="Anaheim"/>
                <a:sym typeface="Anaheim"/>
                <a:hlinkClick r:id="rId4">
                  <a:extLst>
                    <a:ext uri="{A12FA001-AC4F-418D-AE19-62706E023703}">
                      <ahyp:hlinkClr val="tx"/>
                    </a:ext>
                  </a:extLst>
                </a:hlinkClick>
              </a:rPr>
              <a:t>Freepik</a:t>
            </a:r>
            <a:r>
              <a:rPr b="0" i="0" lang="en-US" sz="1000" u="sng" cap="none" strike="noStrike">
                <a:solidFill>
                  <a:schemeClr val="dk1"/>
                </a:solidFill>
                <a:latin typeface="Anaheim"/>
                <a:ea typeface="Anaheim"/>
                <a:cs typeface="Anaheim"/>
                <a:sym typeface="Anaheim"/>
              </a:rPr>
              <a:t> </a:t>
            </a:r>
            <a:endParaRPr b="0" i="0" sz="10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24" name="Shape 24"/>
        <p:cNvGrpSpPr/>
        <p:nvPr/>
      </p:nvGrpSpPr>
      <p:grpSpPr>
        <a:xfrm>
          <a:off x="0" y="0"/>
          <a:ext cx="0" cy="0"/>
          <a:chOff x="0" y="0"/>
          <a:chExt cx="0" cy="0"/>
        </a:xfrm>
      </p:grpSpPr>
      <p:sp>
        <p:nvSpPr>
          <p:cNvPr id="25" name="Google Shape;25;p18"/>
          <p:cNvSpPr/>
          <p:nvPr/>
        </p:nvSpPr>
        <p:spPr>
          <a:xfrm>
            <a:off x="3749400" y="-366336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26" name="Google Shape;26;p18"/>
          <p:cNvPicPr preferRelativeResize="0"/>
          <p:nvPr/>
        </p:nvPicPr>
        <p:blipFill rotWithShape="1">
          <a:blip r:embed="rId2">
            <a:alphaModFix/>
          </a:blip>
          <a:srcRect b="2907" l="0" r="38467" t="3590"/>
          <a:stretch/>
        </p:blipFill>
        <p:spPr>
          <a:xfrm>
            <a:off x="4497120" y="167040"/>
            <a:ext cx="4469040" cy="4808880"/>
          </a:xfrm>
          <a:prstGeom prst="rect">
            <a:avLst/>
          </a:prstGeom>
          <a:noFill/>
          <a:ln>
            <a:noFill/>
          </a:ln>
        </p:spPr>
      </p:pic>
      <p:sp>
        <p:nvSpPr>
          <p:cNvPr id="27" name="Google Shape;27;p18"/>
          <p:cNvSpPr txBox="1"/>
          <p:nvPr>
            <p:ph hasCustomPrompt="1" type="title"/>
          </p:nvPr>
        </p:nvSpPr>
        <p:spPr>
          <a:xfrm>
            <a:off x="1284120" y="1793520"/>
            <a:ext cx="6575760" cy="1044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28"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1"/>
        </a:solidFill>
      </p:bgPr>
    </p:bg>
    <p:spTree>
      <p:nvGrpSpPr>
        <p:cNvPr id="29" name="Shape 29"/>
        <p:cNvGrpSpPr/>
        <p:nvPr/>
      </p:nvGrpSpPr>
      <p:grpSpPr>
        <a:xfrm>
          <a:off x="0" y="0"/>
          <a:ext cx="0" cy="0"/>
          <a:chOff x="0" y="0"/>
          <a:chExt cx="0" cy="0"/>
        </a:xfrm>
      </p:grpSpPr>
      <p:sp>
        <p:nvSpPr>
          <p:cNvPr id="30" name="Google Shape;30;p20"/>
          <p:cNvSpPr/>
          <p:nvPr/>
        </p:nvSpPr>
        <p:spPr>
          <a:xfrm>
            <a:off x="-1615680" y="421812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31" name="Google Shape;31;p20"/>
          <p:cNvPicPr preferRelativeResize="0"/>
          <p:nvPr/>
        </p:nvPicPr>
        <p:blipFill rotWithShape="1">
          <a:blip r:embed="rId2">
            <a:alphaModFix/>
          </a:blip>
          <a:srcRect b="2907" l="1030" r="72640" t="3590"/>
          <a:stretch/>
        </p:blipFill>
        <p:spPr>
          <a:xfrm>
            <a:off x="177480" y="167040"/>
            <a:ext cx="1911600" cy="4808880"/>
          </a:xfrm>
          <a:prstGeom prst="rect">
            <a:avLst/>
          </a:prstGeom>
          <a:noFill/>
          <a:ln>
            <a:noFill/>
          </a:ln>
        </p:spPr>
      </p:pic>
      <p:sp>
        <p:nvSpPr>
          <p:cNvPr id="32" name="Google Shape;32;p20"/>
          <p:cNvSpPr txBox="1"/>
          <p:nvPr>
            <p:ph type="title"/>
          </p:nvPr>
        </p:nvSpPr>
        <p:spPr>
          <a:xfrm>
            <a:off x="228600" y="2017440"/>
            <a:ext cx="3748320" cy="11084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 name="Google Shape;33;p20"/>
          <p:cNvSpPr txBox="1"/>
          <p:nvPr>
            <p:ph idx="2" type="title"/>
          </p:nvPr>
        </p:nvSpPr>
        <p:spPr>
          <a:xfrm>
            <a:off x="4599720" y="38952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 name="Google Shape;34;p20"/>
          <p:cNvSpPr txBox="1"/>
          <p:nvPr>
            <p:ph idx="3" type="title"/>
          </p:nvPr>
        </p:nvSpPr>
        <p:spPr>
          <a:xfrm>
            <a:off x="4599720" y="96156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5" name="Google Shape;35;p20"/>
          <p:cNvSpPr txBox="1"/>
          <p:nvPr>
            <p:ph idx="4" type="title"/>
          </p:nvPr>
        </p:nvSpPr>
        <p:spPr>
          <a:xfrm>
            <a:off x="4599720" y="153360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 name="Google Shape;36;p20"/>
          <p:cNvSpPr txBox="1"/>
          <p:nvPr>
            <p:ph idx="5" type="title"/>
          </p:nvPr>
        </p:nvSpPr>
        <p:spPr>
          <a:xfrm>
            <a:off x="4599720" y="210564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 name="Google Shape;37;p20"/>
          <p:cNvSpPr txBox="1"/>
          <p:nvPr>
            <p:ph idx="6" type="title"/>
          </p:nvPr>
        </p:nvSpPr>
        <p:spPr>
          <a:xfrm>
            <a:off x="4599720" y="264132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20"/>
          <p:cNvSpPr txBox="1"/>
          <p:nvPr>
            <p:ph idx="7" type="title"/>
          </p:nvPr>
        </p:nvSpPr>
        <p:spPr>
          <a:xfrm>
            <a:off x="4599720" y="321336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20"/>
          <p:cNvSpPr txBox="1"/>
          <p:nvPr>
            <p:ph idx="8" type="title"/>
          </p:nvPr>
        </p:nvSpPr>
        <p:spPr>
          <a:xfrm>
            <a:off x="4599720" y="378540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 name="Google Shape;40;p20"/>
          <p:cNvSpPr txBox="1"/>
          <p:nvPr>
            <p:ph idx="9" type="title"/>
          </p:nvPr>
        </p:nvSpPr>
        <p:spPr>
          <a:xfrm>
            <a:off x="4599720" y="4357440"/>
            <a:ext cx="690480" cy="43236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41" name="Shape 41"/>
        <p:cNvGrpSpPr/>
        <p:nvPr/>
      </p:nvGrpSpPr>
      <p:grpSpPr>
        <a:xfrm>
          <a:off x="0" y="0"/>
          <a:ext cx="0" cy="0"/>
          <a:chOff x="0" y="0"/>
          <a:chExt cx="0" cy="0"/>
        </a:xfrm>
      </p:grpSpPr>
      <p:pic>
        <p:nvPicPr>
          <p:cNvPr id="42" name="Google Shape;42;p21"/>
          <p:cNvPicPr preferRelativeResize="0"/>
          <p:nvPr/>
        </p:nvPicPr>
        <p:blipFill rotWithShape="1">
          <a:blip r:embed="rId2">
            <a:alphaModFix/>
          </a:blip>
          <a:srcRect b="2907" l="1030" r="72640" t="3590"/>
          <a:stretch/>
        </p:blipFill>
        <p:spPr>
          <a:xfrm>
            <a:off x="7058160" y="167040"/>
            <a:ext cx="1911600" cy="4808880"/>
          </a:xfrm>
          <a:prstGeom prst="rect">
            <a:avLst/>
          </a:prstGeom>
          <a:noFill/>
          <a:ln>
            <a:noFill/>
          </a:ln>
        </p:spPr>
      </p:pic>
      <p:sp>
        <p:nvSpPr>
          <p:cNvPr id="43" name="Google Shape;43;p21"/>
          <p:cNvSpPr txBox="1"/>
          <p:nvPr>
            <p:ph type="title"/>
          </p:nvPr>
        </p:nvSpPr>
        <p:spPr>
          <a:xfrm>
            <a:off x="4746240" y="228600"/>
            <a:ext cx="416880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44" name="Shape 44"/>
        <p:cNvGrpSpPr/>
        <p:nvPr/>
      </p:nvGrpSpPr>
      <p:grpSpPr>
        <a:xfrm>
          <a:off x="0" y="0"/>
          <a:ext cx="0" cy="0"/>
          <a:chOff x="0" y="0"/>
          <a:chExt cx="0" cy="0"/>
        </a:xfrm>
      </p:grpSpPr>
      <p:pic>
        <p:nvPicPr>
          <p:cNvPr id="45" name="Google Shape;45;p22"/>
          <p:cNvPicPr preferRelativeResize="0"/>
          <p:nvPr/>
        </p:nvPicPr>
        <p:blipFill rotWithShape="1">
          <a:blip r:embed="rId2">
            <a:alphaModFix/>
          </a:blip>
          <a:srcRect b="2907" l="1030" r="77067" t="3590"/>
          <a:stretch/>
        </p:blipFill>
        <p:spPr>
          <a:xfrm>
            <a:off x="173880" y="167040"/>
            <a:ext cx="1590120" cy="4808880"/>
          </a:xfrm>
          <a:prstGeom prst="rect">
            <a:avLst/>
          </a:prstGeom>
          <a:noFill/>
          <a:ln>
            <a:noFill/>
          </a:ln>
        </p:spPr>
      </p:pic>
      <p:sp>
        <p:nvSpPr>
          <p:cNvPr id="46" name="Google Shape;46;p22"/>
          <p:cNvSpPr txBox="1"/>
          <p:nvPr>
            <p:ph type="title"/>
          </p:nvPr>
        </p:nvSpPr>
        <p:spPr>
          <a:xfrm>
            <a:off x="228600" y="228600"/>
            <a:ext cx="447588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p:cSld name="CUSTOM_10">
    <p:bg>
      <p:bgPr>
        <a:solidFill>
          <a:schemeClr val="lt1"/>
        </a:solidFill>
      </p:bgPr>
    </p:bg>
    <p:spTree>
      <p:nvGrpSpPr>
        <p:cNvPr id="47" name="Shape 47"/>
        <p:cNvGrpSpPr/>
        <p:nvPr/>
      </p:nvGrpSpPr>
      <p:grpSpPr>
        <a:xfrm>
          <a:off x="0" y="0"/>
          <a:ext cx="0" cy="0"/>
          <a:chOff x="0" y="0"/>
          <a:chExt cx="0" cy="0"/>
        </a:xfrm>
      </p:grpSpPr>
      <p:sp>
        <p:nvSpPr>
          <p:cNvPr id="48" name="Google Shape;48;p23"/>
          <p:cNvSpPr/>
          <p:nvPr/>
        </p:nvSpPr>
        <p:spPr>
          <a:xfrm>
            <a:off x="-3257640" y="364428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49" name="Google Shape;49;p23"/>
          <p:cNvPicPr preferRelativeResize="0"/>
          <p:nvPr/>
        </p:nvPicPr>
        <p:blipFill rotWithShape="1">
          <a:blip r:embed="rId2">
            <a:alphaModFix/>
          </a:blip>
          <a:srcRect b="2907" l="1030" r="92862" t="3590"/>
          <a:stretch/>
        </p:blipFill>
        <p:spPr>
          <a:xfrm>
            <a:off x="173880" y="167040"/>
            <a:ext cx="442440" cy="4808880"/>
          </a:xfrm>
          <a:prstGeom prst="rect">
            <a:avLst/>
          </a:prstGeom>
          <a:noFill/>
          <a:ln>
            <a:noFill/>
          </a:ln>
        </p:spPr>
      </p:pic>
      <p:sp>
        <p:nvSpPr>
          <p:cNvPr id="50" name="Google Shape;50;p23"/>
          <p:cNvSpPr txBox="1"/>
          <p:nvPr>
            <p:ph type="title"/>
          </p:nvPr>
        </p:nvSpPr>
        <p:spPr>
          <a:xfrm>
            <a:off x="228600" y="228600"/>
            <a:ext cx="3256920" cy="6667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lt1"/>
        </a:solidFill>
      </p:bgPr>
    </p:bg>
    <p:spTree>
      <p:nvGrpSpPr>
        <p:cNvPr id="51" name="Shape 51"/>
        <p:cNvGrpSpPr/>
        <p:nvPr/>
      </p:nvGrpSpPr>
      <p:grpSpPr>
        <a:xfrm>
          <a:off x="0" y="0"/>
          <a:ext cx="0" cy="0"/>
          <a:chOff x="0" y="0"/>
          <a:chExt cx="0" cy="0"/>
        </a:xfrm>
      </p:grpSpPr>
      <p:sp>
        <p:nvSpPr>
          <p:cNvPr id="52" name="Google Shape;52;p24"/>
          <p:cNvSpPr/>
          <p:nvPr/>
        </p:nvSpPr>
        <p:spPr>
          <a:xfrm>
            <a:off x="2189880" y="-369468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53" name="Google Shape;53;p24"/>
          <p:cNvPicPr preferRelativeResize="0"/>
          <p:nvPr/>
        </p:nvPicPr>
        <p:blipFill rotWithShape="1">
          <a:blip r:embed="rId2">
            <a:alphaModFix/>
          </a:blip>
          <a:srcRect b="2907" l="1027" r="38467" t="3590"/>
          <a:stretch/>
        </p:blipFill>
        <p:spPr>
          <a:xfrm>
            <a:off x="177480" y="167040"/>
            <a:ext cx="4394160" cy="48088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54" name="Shape 54"/>
        <p:cNvGrpSpPr/>
        <p:nvPr/>
      </p:nvGrpSpPr>
      <p:grpSpPr>
        <a:xfrm>
          <a:off x="0" y="0"/>
          <a:ext cx="0" cy="0"/>
          <a:chOff x="0" y="0"/>
          <a:chExt cx="0" cy="0"/>
        </a:xfrm>
      </p:grpSpPr>
      <p:sp>
        <p:nvSpPr>
          <p:cNvPr id="55" name="Google Shape;55;p25"/>
          <p:cNvSpPr/>
          <p:nvPr/>
        </p:nvSpPr>
        <p:spPr>
          <a:xfrm>
            <a:off x="2189880" y="408276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56" name="Google Shape;56;p25"/>
          <p:cNvPicPr preferRelativeResize="0"/>
          <p:nvPr/>
        </p:nvPicPr>
        <p:blipFill rotWithShape="1">
          <a:blip r:embed="rId2">
            <a:alphaModFix/>
          </a:blip>
          <a:srcRect b="2907" l="10335" r="38467" t="3590"/>
          <a:stretch/>
        </p:blipFill>
        <p:spPr>
          <a:xfrm>
            <a:off x="5248080" y="167040"/>
            <a:ext cx="3718440" cy="4808880"/>
          </a:xfrm>
          <a:prstGeom prst="rect">
            <a:avLst/>
          </a:prstGeom>
          <a:noFill/>
          <a:ln>
            <a:noFill/>
          </a:ln>
        </p:spPr>
      </p:pic>
      <p:sp>
        <p:nvSpPr>
          <p:cNvPr id="57" name="Google Shape;57;p25"/>
          <p:cNvSpPr txBox="1"/>
          <p:nvPr>
            <p:ph type="title"/>
          </p:nvPr>
        </p:nvSpPr>
        <p:spPr>
          <a:xfrm>
            <a:off x="507600" y="1628640"/>
            <a:ext cx="5183640" cy="18860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25"/>
          <p:cNvSpPr txBox="1"/>
          <p:nvPr>
            <p:ph idx="2" type="title"/>
          </p:nvPr>
        </p:nvSpPr>
        <p:spPr>
          <a:xfrm>
            <a:off x="6340320" y="1919880"/>
            <a:ext cx="1335960" cy="13035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lt1"/>
        </a:solidFill>
      </p:bgPr>
    </p:bg>
    <p:spTree>
      <p:nvGrpSpPr>
        <p:cNvPr id="59" name="Shape 59"/>
        <p:cNvGrpSpPr/>
        <p:nvPr/>
      </p:nvGrpSpPr>
      <p:grpSpPr>
        <a:xfrm>
          <a:off x="0" y="0"/>
          <a:ext cx="0" cy="0"/>
          <a:chOff x="0" y="0"/>
          <a:chExt cx="0" cy="0"/>
        </a:xfrm>
      </p:grpSpPr>
      <p:sp>
        <p:nvSpPr>
          <p:cNvPr id="60" name="Google Shape;60;p26"/>
          <p:cNvSpPr/>
          <p:nvPr/>
        </p:nvSpPr>
        <p:spPr>
          <a:xfrm>
            <a:off x="2189880" y="343728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pic>
        <p:nvPicPr>
          <p:cNvPr id="61" name="Google Shape;61;p26"/>
          <p:cNvPicPr preferRelativeResize="0"/>
          <p:nvPr/>
        </p:nvPicPr>
        <p:blipFill rotWithShape="1">
          <a:blip r:embed="rId2">
            <a:alphaModFix/>
          </a:blip>
          <a:srcRect b="2907" l="10335" r="38467" t="3590"/>
          <a:stretch/>
        </p:blipFill>
        <p:spPr>
          <a:xfrm>
            <a:off x="5248080" y="167040"/>
            <a:ext cx="3718440" cy="48088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62" name="Shape 62"/>
        <p:cNvGrpSpPr/>
        <p:nvPr/>
      </p:nvGrpSpPr>
      <p:grpSpPr>
        <a:xfrm>
          <a:off x="0" y="0"/>
          <a:ext cx="0" cy="0"/>
          <a:chOff x="0" y="0"/>
          <a:chExt cx="0" cy="0"/>
        </a:xfrm>
      </p:grpSpPr>
      <p:sp>
        <p:nvSpPr>
          <p:cNvPr id="63" name="Google Shape;63;p27"/>
          <p:cNvSpPr txBox="1"/>
          <p:nvPr>
            <p:ph type="title"/>
          </p:nvPr>
        </p:nvSpPr>
        <p:spPr>
          <a:xfrm>
            <a:off x="228600" y="22860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4" name="Google Shape;64;p27"/>
          <p:cNvSpPr txBox="1"/>
          <p:nvPr>
            <p:ph idx="1" type="body"/>
          </p:nvPr>
        </p:nvSpPr>
        <p:spPr>
          <a:xfrm>
            <a:off x="228600" y="999360"/>
            <a:ext cx="7703640" cy="341604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65" name="Shape 65"/>
        <p:cNvGrpSpPr/>
        <p:nvPr/>
      </p:nvGrpSpPr>
      <p:grpSpPr>
        <a:xfrm>
          <a:off x="0" y="0"/>
          <a:ext cx="0" cy="0"/>
          <a:chOff x="0" y="0"/>
          <a:chExt cx="0" cy="0"/>
        </a:xfrm>
      </p:grpSpPr>
      <p:pic>
        <p:nvPicPr>
          <p:cNvPr id="66" name="Google Shape;66;p28"/>
          <p:cNvPicPr preferRelativeResize="0"/>
          <p:nvPr/>
        </p:nvPicPr>
        <p:blipFill rotWithShape="1">
          <a:blip r:embed="rId2">
            <a:alphaModFix/>
          </a:blip>
          <a:srcRect b="2907" l="1030" r="72640" t="3590"/>
          <a:stretch/>
        </p:blipFill>
        <p:spPr>
          <a:xfrm>
            <a:off x="173880" y="167040"/>
            <a:ext cx="1911600" cy="4808880"/>
          </a:xfrm>
          <a:prstGeom prst="rect">
            <a:avLst/>
          </a:prstGeom>
          <a:noFill/>
          <a:ln>
            <a:noFill/>
          </a:ln>
        </p:spPr>
      </p:pic>
      <p:sp>
        <p:nvSpPr>
          <p:cNvPr id="67" name="Google Shape;67;p28"/>
          <p:cNvSpPr txBox="1"/>
          <p:nvPr>
            <p:ph type="title"/>
          </p:nvPr>
        </p:nvSpPr>
        <p:spPr>
          <a:xfrm>
            <a:off x="228600" y="226440"/>
            <a:ext cx="4557960" cy="6584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8" name="Shape 68"/>
        <p:cNvGrpSpPr/>
        <p:nvPr/>
      </p:nvGrpSpPr>
      <p:grpSpPr>
        <a:xfrm>
          <a:off x="0" y="0"/>
          <a:ext cx="0" cy="0"/>
          <a:chOff x="0" y="0"/>
          <a:chExt cx="0" cy="0"/>
        </a:xfrm>
      </p:grpSpPr>
      <p:pic>
        <p:nvPicPr>
          <p:cNvPr id="69" name="Google Shape;69;p29"/>
          <p:cNvPicPr preferRelativeResize="0"/>
          <p:nvPr/>
        </p:nvPicPr>
        <p:blipFill rotWithShape="1">
          <a:blip r:embed="rId2">
            <a:alphaModFix/>
          </a:blip>
          <a:srcRect b="2907" l="1030" r="92862" t="3590"/>
          <a:stretch/>
        </p:blipFill>
        <p:spPr>
          <a:xfrm>
            <a:off x="8523720" y="167040"/>
            <a:ext cx="442440" cy="4808880"/>
          </a:xfrm>
          <a:prstGeom prst="rect">
            <a:avLst/>
          </a:prstGeom>
          <a:noFill/>
          <a:ln>
            <a:noFill/>
          </a:ln>
        </p:spPr>
      </p:pic>
      <p:sp>
        <p:nvSpPr>
          <p:cNvPr id="70" name="Google Shape;70;p29"/>
          <p:cNvSpPr/>
          <p:nvPr/>
        </p:nvSpPr>
        <p:spPr>
          <a:xfrm>
            <a:off x="-2153520" y="-3996720"/>
            <a:ext cx="4763880" cy="4763880"/>
          </a:xfrm>
          <a:prstGeom prst="ellipse">
            <a:avLst/>
          </a:prstGeom>
          <a:noFill/>
          <a:ln cap="flat" cmpd="sng" w="9525">
            <a:solidFill>
              <a:srgbClr val="FFF5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1" name="Google Shape;71;p29"/>
          <p:cNvSpPr txBox="1"/>
          <p:nvPr>
            <p:ph type="title"/>
          </p:nvPr>
        </p:nvSpPr>
        <p:spPr>
          <a:xfrm>
            <a:off x="5329800" y="228600"/>
            <a:ext cx="3584880" cy="6667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72" name="Shape 72"/>
        <p:cNvGrpSpPr/>
        <p:nvPr/>
      </p:nvGrpSpPr>
      <p:grpSpPr>
        <a:xfrm>
          <a:off x="0" y="0"/>
          <a:ext cx="0" cy="0"/>
          <a:chOff x="0" y="0"/>
          <a:chExt cx="0" cy="0"/>
        </a:xfrm>
      </p:grpSpPr>
      <p:sp>
        <p:nvSpPr>
          <p:cNvPr id="73" name="Google Shape;73;p30"/>
          <p:cNvSpPr txBox="1"/>
          <p:nvPr>
            <p:ph type="title"/>
          </p:nvPr>
        </p:nvSpPr>
        <p:spPr>
          <a:xfrm>
            <a:off x="720000" y="444960"/>
            <a:ext cx="476352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74" name="Shape 74"/>
        <p:cNvGrpSpPr/>
        <p:nvPr/>
      </p:nvGrpSpPr>
      <p:grpSpPr>
        <a:xfrm>
          <a:off x="0" y="0"/>
          <a:ext cx="0" cy="0"/>
          <a:chOff x="0" y="0"/>
          <a:chExt cx="0" cy="0"/>
        </a:xfrm>
      </p:grpSpPr>
      <p:sp>
        <p:nvSpPr>
          <p:cNvPr id="75" name="Google Shape;75;p31"/>
          <p:cNvSpPr txBox="1"/>
          <p:nvPr>
            <p:ph type="title"/>
          </p:nvPr>
        </p:nvSpPr>
        <p:spPr>
          <a:xfrm>
            <a:off x="1768680" y="1307160"/>
            <a:ext cx="5606640" cy="2529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lt1"/>
        </a:solidFill>
      </p:bgPr>
    </p:bg>
    <p:spTree>
      <p:nvGrpSpPr>
        <p:cNvPr id="76" name="Shape 76"/>
        <p:cNvGrpSpPr/>
        <p:nvPr/>
      </p:nvGrpSpPr>
      <p:grpSpPr>
        <a:xfrm>
          <a:off x="0" y="0"/>
          <a:ext cx="0" cy="0"/>
          <a:chOff x="0" y="0"/>
          <a:chExt cx="0" cy="0"/>
        </a:xfrm>
      </p:grpSpPr>
      <p:sp>
        <p:nvSpPr>
          <p:cNvPr id="77" name="Google Shape;77;p32"/>
          <p:cNvSpPr txBox="1"/>
          <p:nvPr>
            <p:ph type="title"/>
          </p:nvPr>
        </p:nvSpPr>
        <p:spPr>
          <a:xfrm>
            <a:off x="2135520" y="1441800"/>
            <a:ext cx="4872600" cy="1186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1"/>
        </a:solidFill>
      </p:bgPr>
    </p:bg>
    <p:spTree>
      <p:nvGrpSpPr>
        <p:cNvPr id="78" name="Shape 78"/>
        <p:cNvGrpSpPr/>
        <p:nvPr/>
      </p:nvGrpSpPr>
      <p:grpSpPr>
        <a:xfrm>
          <a:off x="0" y="0"/>
          <a:ext cx="0" cy="0"/>
          <a:chOff x="0" y="0"/>
          <a:chExt cx="0" cy="0"/>
        </a:xfrm>
      </p:grpSpPr>
      <p:sp>
        <p:nvSpPr>
          <p:cNvPr id="79" name="Google Shape;79;p33"/>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stStyle>
          <a:p/>
        </p:txBody>
      </p:sp>
      <p:sp>
        <p:nvSpPr>
          <p:cNvPr id="80" name="Google Shape;80;p33"/>
          <p:cNvSpPr txBox="1"/>
          <p:nvPr>
            <p:ph type="title"/>
          </p:nvPr>
        </p:nvSpPr>
        <p:spPr>
          <a:xfrm>
            <a:off x="720000" y="4014360"/>
            <a:ext cx="7703640" cy="572400"/>
          </a:xfrm>
          <a:prstGeom prst="rect">
            <a:avLst/>
          </a:prstGeom>
          <a:solidFill>
            <a:schemeClr val="lt2"/>
          </a:solid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9.jp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title"/>
          </p:nvPr>
        </p:nvSpPr>
        <p:spPr>
          <a:xfrm>
            <a:off x="1571710" y="2390755"/>
            <a:ext cx="6000600" cy="17238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70000"/>
              </a:lnSpc>
              <a:spcBef>
                <a:spcPts val="0"/>
              </a:spcBef>
              <a:spcAft>
                <a:spcPts val="0"/>
              </a:spcAft>
              <a:buClr>
                <a:schemeClr val="dk1"/>
              </a:buClr>
              <a:buSzPct val="100000"/>
              <a:buFont typeface="Bricolage Grotesque Medium"/>
              <a:buNone/>
            </a:pPr>
            <a:r>
              <a:rPr lang="en-US" sz="6800">
                <a:solidFill>
                  <a:schemeClr val="dk1"/>
                </a:solidFill>
                <a:latin typeface="Bricolage Grotesque Medium"/>
                <a:ea typeface="Bricolage Grotesque Medium"/>
                <a:cs typeface="Bricolage Grotesque Medium"/>
                <a:sym typeface="Bricolage Grotesque Medium"/>
              </a:rPr>
              <a:t>Predicting a Target Using Data and Math Models</a:t>
            </a:r>
            <a:endParaRPr b="0" sz="6800" u="none" strike="noStrike">
              <a:solidFill>
                <a:schemeClr val="dk1"/>
              </a:solidFill>
              <a:latin typeface="Arial"/>
              <a:ea typeface="Arial"/>
              <a:cs typeface="Arial"/>
              <a:sym typeface="Arial"/>
            </a:endParaRPr>
          </a:p>
        </p:txBody>
      </p:sp>
      <p:sp>
        <p:nvSpPr>
          <p:cNvPr id="86" name="Google Shape;86;p1"/>
          <p:cNvSpPr txBox="1"/>
          <p:nvPr/>
        </p:nvSpPr>
        <p:spPr>
          <a:xfrm>
            <a:off x="7772750" y="2390750"/>
            <a:ext cx="1371300" cy="396300"/>
          </a:xfrm>
          <a:prstGeom prst="rect">
            <a:avLst/>
          </a:prstGeom>
          <a:noFill/>
          <a:ln>
            <a:noFill/>
          </a:ln>
        </p:spPr>
        <p:txBody>
          <a:bodyPr anchorCtr="0" anchor="b" bIns="91425" lIns="91425" spcFirstLastPara="1" rIns="91425" wrap="square" tIns="91425">
            <a:spAutoFit/>
          </a:bodyPr>
          <a:lstStyle/>
          <a:p>
            <a:pPr indent="0" lvl="0" marL="0" rtl="0" algn="l">
              <a:spcBef>
                <a:spcPts val="0"/>
              </a:spcBef>
              <a:spcAft>
                <a:spcPts val="0"/>
              </a:spcAft>
              <a:buNone/>
            </a:pPr>
            <a:r>
              <a:t/>
            </a:r>
            <a:endParaRPr/>
          </a:p>
        </p:txBody>
      </p:sp>
      <p:pic>
        <p:nvPicPr>
          <p:cNvPr id="87" name="Google Shape;87;p1"/>
          <p:cNvPicPr preferRelativeResize="0"/>
          <p:nvPr/>
        </p:nvPicPr>
        <p:blipFill>
          <a:blip r:embed="rId3">
            <a:alphaModFix/>
          </a:blip>
          <a:stretch>
            <a:fillRect/>
          </a:stretch>
        </p:blipFill>
        <p:spPr>
          <a:xfrm>
            <a:off x="7036325" y="181075"/>
            <a:ext cx="2107675" cy="2107644"/>
          </a:xfrm>
          <a:prstGeom prst="rect">
            <a:avLst/>
          </a:prstGeom>
          <a:noFill/>
          <a:ln>
            <a:noFill/>
          </a:ln>
        </p:spPr>
      </p:pic>
      <p:pic>
        <p:nvPicPr>
          <p:cNvPr id="88" name="Google Shape;88;p1"/>
          <p:cNvPicPr preferRelativeResize="0"/>
          <p:nvPr/>
        </p:nvPicPr>
        <p:blipFill>
          <a:blip r:embed="rId4">
            <a:alphaModFix/>
          </a:blip>
          <a:stretch>
            <a:fillRect/>
          </a:stretch>
        </p:blipFill>
        <p:spPr>
          <a:xfrm>
            <a:off x="254009" y="181075"/>
            <a:ext cx="1754953" cy="2107650"/>
          </a:xfrm>
          <a:prstGeom prst="rect">
            <a:avLst/>
          </a:prstGeom>
          <a:noFill/>
          <a:ln>
            <a:noFill/>
          </a:ln>
        </p:spPr>
      </p:pic>
      <p:sp>
        <p:nvSpPr>
          <p:cNvPr id="89" name="Google Shape;89;p1"/>
          <p:cNvSpPr txBox="1"/>
          <p:nvPr/>
        </p:nvSpPr>
        <p:spPr>
          <a:xfrm>
            <a:off x="149425" y="4663775"/>
            <a:ext cx="1911000" cy="1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accent6"/>
                </a:solidFill>
                <a:latin typeface="Times New Roman"/>
                <a:ea typeface="Times New Roman"/>
                <a:cs typeface="Times New Roman"/>
                <a:sym typeface="Times New Roman"/>
              </a:rPr>
              <a:t>By: Teyanna Williams</a:t>
            </a:r>
            <a:endParaRPr>
              <a:solidFill>
                <a:schemeClr val="accent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idx="1" type="subTitle"/>
          </p:nvPr>
        </p:nvSpPr>
        <p:spPr>
          <a:xfrm>
            <a:off x="3924387" y="775306"/>
            <a:ext cx="3847800" cy="1638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0" i="0" lang="en-US" sz="1500" u="none" cap="none" strike="noStrike">
                <a:solidFill>
                  <a:schemeClr val="dk1"/>
                </a:solidFill>
                <a:latin typeface="Anaheim"/>
                <a:ea typeface="Anaheim"/>
                <a:cs typeface="Anaheim"/>
                <a:sym typeface="Anaheim"/>
              </a:rPr>
              <a:t>Predicting a </a:t>
            </a:r>
            <a:r>
              <a:rPr b="0" i="1" lang="en-US" sz="1500" u="none" cap="none" strike="noStrike">
                <a:solidFill>
                  <a:schemeClr val="dk1"/>
                </a:solidFill>
                <a:latin typeface="Anaheim"/>
                <a:ea typeface="Anaheim"/>
                <a:cs typeface="Anaheim"/>
                <a:sym typeface="Anaheim"/>
              </a:rPr>
              <a:t>target</a:t>
            </a:r>
            <a:r>
              <a:rPr b="0" i="0" lang="en-US" sz="1500" u="none" cap="none" strike="noStrike">
                <a:solidFill>
                  <a:schemeClr val="dk1"/>
                </a:solidFill>
                <a:latin typeface="Anaheim"/>
                <a:ea typeface="Anaheim"/>
                <a:cs typeface="Anaheim"/>
                <a:sym typeface="Anaheim"/>
              </a:rPr>
              <a:t> value using past data is essential for decision-making and forecasting.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0" i="0" lang="en-US" sz="1500" u="none" cap="none" strike="noStrike">
                <a:solidFill>
                  <a:schemeClr val="dk1"/>
                </a:solidFill>
                <a:latin typeface="Anaheim"/>
                <a:ea typeface="Anaheim"/>
                <a:cs typeface="Anaheim"/>
                <a:sym typeface="Anaheim"/>
              </a:rPr>
              <a:t>Mathematical models help computers analyze patterns and trends in data to produce informed predictions.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0" i="0" lang="en-US" sz="1500" u="none" cap="none" strike="noStrike">
                <a:solidFill>
                  <a:schemeClr val="dk1"/>
                </a:solidFill>
                <a:latin typeface="Anaheim"/>
                <a:ea typeface="Anaheim"/>
                <a:cs typeface="Anaheim"/>
                <a:sym typeface="Anaheim"/>
              </a:rPr>
              <a:t>This approach enhances accuracy and supports data-driven strategies in various </a:t>
            </a:r>
            <a:r>
              <a:rPr lang="en-US" sz="1500">
                <a:solidFill>
                  <a:schemeClr val="dk1"/>
                </a:solidFill>
                <a:latin typeface="Anaheim"/>
                <a:ea typeface="Anaheim"/>
                <a:cs typeface="Anaheim"/>
                <a:sym typeface="Anaheim"/>
              </a:rPr>
              <a:t>fields.</a:t>
            </a:r>
            <a:endParaRPr b="0" i="0" sz="1500" u="none" cap="none" strike="noStrike">
              <a:solidFill>
                <a:srgbClr val="FFFFFF"/>
              </a:solidFill>
              <a:latin typeface="Noto Sans Symbols"/>
              <a:ea typeface="Noto Sans Symbols"/>
              <a:cs typeface="Noto Sans Symbols"/>
              <a:sym typeface="Noto Sans Symbols"/>
            </a:endParaRPr>
          </a:p>
        </p:txBody>
      </p:sp>
      <p:sp>
        <p:nvSpPr>
          <p:cNvPr id="95" name="Google Shape;95;p4"/>
          <p:cNvSpPr txBox="1"/>
          <p:nvPr>
            <p:ph type="title"/>
          </p:nvPr>
        </p:nvSpPr>
        <p:spPr>
          <a:xfrm>
            <a:off x="165145" y="1333653"/>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Problem and</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Motivation</a:t>
            </a:r>
            <a:endParaRPr b="0" sz="3100" u="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 type="subTitle"/>
          </p:nvPr>
        </p:nvSpPr>
        <p:spPr>
          <a:xfrm>
            <a:off x="3426432" y="704263"/>
            <a:ext cx="3847800" cy="1638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0" i="0" lang="en-US" sz="1500" u="none" cap="none" strike="noStrike">
                <a:solidFill>
                  <a:schemeClr val="dk1"/>
                </a:solidFill>
                <a:latin typeface="Anaheim"/>
                <a:ea typeface="Anaheim"/>
                <a:cs typeface="Anaheim"/>
                <a:sym typeface="Anaheim"/>
              </a:rPr>
              <a:t>This presentation explores predicting a numerical </a:t>
            </a:r>
            <a:r>
              <a:rPr b="0" i="1" lang="en-US" sz="1500" u="none" cap="none" strike="noStrike">
                <a:solidFill>
                  <a:schemeClr val="dk1"/>
                </a:solidFill>
                <a:latin typeface="Anaheim"/>
                <a:ea typeface="Anaheim"/>
                <a:cs typeface="Anaheim"/>
                <a:sym typeface="Anaheim"/>
              </a:rPr>
              <a:t>target</a:t>
            </a:r>
            <a:r>
              <a:rPr b="0" i="0" lang="en-US" sz="1500" u="none" cap="none" strike="noStrike">
                <a:solidFill>
                  <a:schemeClr val="dk1"/>
                </a:solidFill>
                <a:latin typeface="Anaheim"/>
                <a:ea typeface="Anaheim"/>
                <a:cs typeface="Anaheim"/>
                <a:sym typeface="Anaheim"/>
              </a:rPr>
              <a:t> using historical data and mathematical models.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lang="en-US" sz="1500">
                <a:solidFill>
                  <a:schemeClr val="dk1"/>
                </a:solidFill>
                <a:latin typeface="Anaheim"/>
                <a:ea typeface="Anaheim"/>
                <a:cs typeface="Anaheim"/>
                <a:sym typeface="Anaheim"/>
              </a:rPr>
              <a:t>It </a:t>
            </a:r>
            <a:r>
              <a:rPr b="0" i="0" lang="en-US" sz="1500" u="none" cap="none" strike="noStrike">
                <a:solidFill>
                  <a:schemeClr val="dk1"/>
                </a:solidFill>
                <a:latin typeface="Anaheim"/>
                <a:ea typeface="Anaheim"/>
                <a:cs typeface="Anaheim"/>
                <a:sym typeface="Anaheim"/>
              </a:rPr>
              <a:t>focus</a:t>
            </a:r>
            <a:r>
              <a:rPr lang="en-US" sz="1500">
                <a:solidFill>
                  <a:schemeClr val="dk1"/>
                </a:solidFill>
                <a:latin typeface="Anaheim"/>
                <a:ea typeface="Anaheim"/>
                <a:cs typeface="Anaheim"/>
                <a:sym typeface="Anaheim"/>
              </a:rPr>
              <a:t>es </a:t>
            </a:r>
            <a:r>
              <a:rPr b="0" i="0" lang="en-US" sz="1500" u="none" cap="none" strike="noStrike">
                <a:solidFill>
                  <a:schemeClr val="dk1"/>
                </a:solidFill>
                <a:latin typeface="Anaheim"/>
                <a:ea typeface="Anaheim"/>
                <a:cs typeface="Anaheim"/>
                <a:sym typeface="Anaheim"/>
              </a:rPr>
              <a:t>on leveraging key “features” and applying algorithms to help computers generate accurate predictions.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0" i="0" lang="en-US" sz="1500" u="none" cap="none" strike="noStrike">
                <a:solidFill>
                  <a:schemeClr val="dk1"/>
                </a:solidFill>
                <a:latin typeface="Anaheim"/>
                <a:ea typeface="Anaheim"/>
                <a:cs typeface="Anaheim"/>
                <a:sym typeface="Anaheim"/>
              </a:rPr>
              <a:t>This demonstrates the integration of data, math, and machine learning to solve real-world problems.</a:t>
            </a:r>
            <a:endParaRPr b="0" i="0" sz="1500" u="none" cap="none" strike="noStrike">
              <a:solidFill>
                <a:srgbClr val="FFFFFF"/>
              </a:solidFill>
              <a:latin typeface="Noto Sans Symbols"/>
              <a:ea typeface="Noto Sans Symbols"/>
              <a:cs typeface="Noto Sans Symbols"/>
              <a:sym typeface="Noto Sans Symbols"/>
            </a:endParaRPr>
          </a:p>
        </p:txBody>
      </p:sp>
      <p:sp>
        <p:nvSpPr>
          <p:cNvPr id="101" name="Google Shape;101;p2"/>
          <p:cNvSpPr txBox="1"/>
          <p:nvPr>
            <p:ph type="title"/>
          </p:nvPr>
        </p:nvSpPr>
        <p:spPr>
          <a:xfrm>
            <a:off x="12" y="1333653"/>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Introduction </a:t>
            </a:r>
            <a:r>
              <a:rPr lang="en-US" sz="3100">
                <a:solidFill>
                  <a:schemeClr val="dk1"/>
                </a:solidFill>
                <a:latin typeface="Bricolage Grotesque Medium"/>
                <a:ea typeface="Bricolage Grotesque Medium"/>
                <a:cs typeface="Bricolage Grotesque Medium"/>
                <a:sym typeface="Bricolage Grotesque Medium"/>
              </a:rPr>
              <a:t>to Methods</a:t>
            </a:r>
            <a:endParaRPr b="0" sz="3100" u="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idx="1" type="subTitle"/>
          </p:nvPr>
        </p:nvSpPr>
        <p:spPr>
          <a:xfrm>
            <a:off x="2849997" y="479586"/>
            <a:ext cx="3847800" cy="1638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0" i="0" lang="en-US" sz="1550" u="none" cap="none" strike="noStrike">
                <a:solidFill>
                  <a:schemeClr val="dk1"/>
                </a:solidFill>
                <a:latin typeface="Anaheim"/>
                <a:ea typeface="Anaheim"/>
                <a:cs typeface="Anaheim"/>
                <a:sym typeface="Anaheim"/>
              </a:rPr>
              <a:t>The dataset includes key features like</a:t>
            </a:r>
            <a:r>
              <a:rPr lang="en-US" sz="1550">
                <a:solidFill>
                  <a:schemeClr val="dk1"/>
                </a:solidFill>
                <a:latin typeface="Anaheim"/>
                <a:ea typeface="Anaheim"/>
                <a:cs typeface="Anaheim"/>
                <a:sym typeface="Anaheim"/>
              </a:rPr>
              <a:t>:</a:t>
            </a:r>
            <a:endParaRPr sz="1550">
              <a:solidFill>
                <a:schemeClr val="dk1"/>
              </a:solidFill>
              <a:latin typeface="Anaheim"/>
              <a:ea typeface="Anaheim"/>
              <a:cs typeface="Anaheim"/>
              <a:sym typeface="Anaheim"/>
            </a:endParaRPr>
          </a:p>
          <a:p>
            <a:pPr indent="-327025" lvl="0" marL="457200" marR="0" rtl="0" algn="l">
              <a:lnSpc>
                <a:spcPct val="150000"/>
              </a:lnSpc>
              <a:spcBef>
                <a:spcPts val="0"/>
              </a:spcBef>
              <a:spcAft>
                <a:spcPts val="0"/>
              </a:spcAft>
              <a:buClr>
                <a:schemeClr val="dk1"/>
              </a:buClr>
              <a:buSzPts val="1550"/>
              <a:buFont typeface="Anaheim"/>
              <a:buChar char="●"/>
            </a:pPr>
            <a:r>
              <a:rPr b="0" i="1" lang="en-US" sz="1550" u="none" cap="none" strike="noStrike">
                <a:solidFill>
                  <a:schemeClr val="dk1"/>
                </a:solidFill>
                <a:latin typeface="Anaheim"/>
                <a:ea typeface="Anaheim"/>
                <a:cs typeface="Anaheim"/>
                <a:sym typeface="Anaheim"/>
              </a:rPr>
              <a:t>Return </a:t>
            </a:r>
            <a:r>
              <a:rPr i="1" lang="en-US" sz="1550">
                <a:solidFill>
                  <a:schemeClr val="dk1"/>
                </a:solidFill>
                <a:latin typeface="Anaheim"/>
                <a:ea typeface="Anaheim"/>
                <a:cs typeface="Anaheim"/>
                <a:sym typeface="Anaheim"/>
              </a:rPr>
              <a:t>(the gain or loss/change in price over time)</a:t>
            </a:r>
            <a:endParaRPr sz="1550">
              <a:solidFill>
                <a:schemeClr val="dk1"/>
              </a:solidFill>
              <a:latin typeface="Anaheim"/>
              <a:ea typeface="Anaheim"/>
              <a:cs typeface="Anaheim"/>
              <a:sym typeface="Anaheim"/>
            </a:endParaRPr>
          </a:p>
          <a:p>
            <a:pPr indent="-327025" lvl="0" marL="457200" marR="0" rtl="0" algn="l">
              <a:lnSpc>
                <a:spcPct val="150000"/>
              </a:lnSpc>
              <a:spcBef>
                <a:spcPts val="0"/>
              </a:spcBef>
              <a:spcAft>
                <a:spcPts val="0"/>
              </a:spcAft>
              <a:buClr>
                <a:schemeClr val="dk1"/>
              </a:buClr>
              <a:buSzPts val="1550"/>
              <a:buFont typeface="Anaheim"/>
              <a:buChar char="●"/>
            </a:pPr>
            <a:r>
              <a:rPr b="0" i="1" lang="en-US" sz="1550" u="none" cap="none" strike="noStrike">
                <a:solidFill>
                  <a:schemeClr val="dk1"/>
                </a:solidFill>
                <a:latin typeface="Anaheim"/>
                <a:ea typeface="Anaheim"/>
                <a:cs typeface="Anaheim"/>
                <a:sym typeface="Anaheim"/>
              </a:rPr>
              <a:t>SMA_5 (Simple Moving Average; </a:t>
            </a:r>
            <a:r>
              <a:rPr i="1" lang="en-US" sz="1550">
                <a:solidFill>
                  <a:schemeClr val="dk1"/>
                </a:solidFill>
                <a:latin typeface="Anaheim"/>
                <a:ea typeface="Anaheim"/>
                <a:cs typeface="Anaheim"/>
                <a:sym typeface="Anaheim"/>
              </a:rPr>
              <a:t>Calculates average price over a number of periods)</a:t>
            </a:r>
            <a:endParaRPr sz="1550">
              <a:solidFill>
                <a:schemeClr val="dk1"/>
              </a:solidFill>
              <a:latin typeface="Anaheim"/>
              <a:ea typeface="Anaheim"/>
              <a:cs typeface="Anaheim"/>
              <a:sym typeface="Anaheim"/>
            </a:endParaRPr>
          </a:p>
          <a:p>
            <a:pPr indent="-327025" lvl="0" marL="457200" marR="0" rtl="0" algn="l">
              <a:lnSpc>
                <a:spcPct val="150000"/>
              </a:lnSpc>
              <a:spcBef>
                <a:spcPts val="0"/>
              </a:spcBef>
              <a:spcAft>
                <a:spcPts val="0"/>
              </a:spcAft>
              <a:buClr>
                <a:schemeClr val="dk1"/>
              </a:buClr>
              <a:buSzPts val="1550"/>
              <a:buFont typeface="Anaheim"/>
              <a:buChar char="●"/>
            </a:pPr>
            <a:r>
              <a:rPr b="0" i="1" lang="en-US" sz="1550" u="none" cap="none" strike="noStrike">
                <a:solidFill>
                  <a:schemeClr val="dk1"/>
                </a:solidFill>
                <a:latin typeface="Anaheim"/>
                <a:ea typeface="Anaheim"/>
                <a:cs typeface="Anaheim"/>
                <a:sym typeface="Anaheim"/>
              </a:rPr>
              <a:t>SMA_10 (Same as above, different period)</a:t>
            </a:r>
            <a:endParaRPr sz="1550">
              <a:solidFill>
                <a:schemeClr val="dk1"/>
              </a:solidFill>
              <a:latin typeface="Anaheim"/>
              <a:ea typeface="Anaheim"/>
              <a:cs typeface="Anaheim"/>
              <a:sym typeface="Anaheim"/>
            </a:endParaRPr>
          </a:p>
          <a:p>
            <a:pPr indent="-327025" lvl="0" marL="457200" marR="0" rtl="0" algn="l">
              <a:lnSpc>
                <a:spcPct val="150000"/>
              </a:lnSpc>
              <a:spcBef>
                <a:spcPts val="0"/>
              </a:spcBef>
              <a:spcAft>
                <a:spcPts val="0"/>
              </a:spcAft>
              <a:buClr>
                <a:schemeClr val="dk1"/>
              </a:buClr>
              <a:buSzPts val="1550"/>
              <a:buFont typeface="Anaheim"/>
              <a:buChar char="●"/>
            </a:pPr>
            <a:r>
              <a:rPr b="0" i="1" lang="en-US" sz="1550" u="none" cap="none" strike="noStrike">
                <a:solidFill>
                  <a:schemeClr val="dk1"/>
                </a:solidFill>
                <a:latin typeface="Anaheim"/>
                <a:ea typeface="Anaheim"/>
                <a:cs typeface="Anaheim"/>
                <a:sym typeface="Anaheim"/>
              </a:rPr>
              <a:t>RSI</a:t>
            </a:r>
            <a:r>
              <a:rPr lang="en-US" sz="1550">
                <a:solidFill>
                  <a:schemeClr val="dk1"/>
                </a:solidFill>
                <a:latin typeface="Anaheim"/>
                <a:ea typeface="Anaheim"/>
                <a:cs typeface="Anaheim"/>
                <a:sym typeface="Anaheim"/>
              </a:rPr>
              <a:t> (Relative Strength Index; momentum indicator that provides signals of overbought or oversold conditions)</a:t>
            </a:r>
            <a:r>
              <a:rPr b="0" i="0" lang="en-US" sz="1550" u="none" cap="none" strike="noStrike">
                <a:solidFill>
                  <a:schemeClr val="dk1"/>
                </a:solidFill>
                <a:latin typeface="Anaheim"/>
                <a:ea typeface="Anaheim"/>
                <a:cs typeface="Anaheim"/>
                <a:sym typeface="Anaheim"/>
              </a:rPr>
              <a:t>.</a:t>
            </a:r>
            <a:endParaRPr b="0" i="0" sz="1550" u="none" cap="none" strike="noStrike">
              <a:solidFill>
                <a:srgbClr val="FFFFFF"/>
              </a:solidFill>
              <a:latin typeface="Noto Sans Symbols"/>
              <a:ea typeface="Noto Sans Symbols"/>
              <a:cs typeface="Noto Sans Symbols"/>
              <a:sym typeface="Noto Sans Symbols"/>
            </a:endParaRPr>
          </a:p>
        </p:txBody>
      </p:sp>
      <p:sp>
        <p:nvSpPr>
          <p:cNvPr id="107" name="Google Shape;107;p5"/>
          <p:cNvSpPr txBox="1"/>
          <p:nvPr>
            <p:ph type="title"/>
          </p:nvPr>
        </p:nvSpPr>
        <p:spPr>
          <a:xfrm>
            <a:off x="96795" y="759315"/>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Dataset and Features</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Description</a:t>
            </a:r>
            <a:endParaRPr b="0" sz="3100" u="none" strike="noStrike">
              <a:solidFill>
                <a:schemeClr val="dk1"/>
              </a:solidFill>
              <a:latin typeface="Arial"/>
              <a:ea typeface="Arial"/>
              <a:cs typeface="Arial"/>
              <a:sym typeface="Arial"/>
            </a:endParaRPr>
          </a:p>
        </p:txBody>
      </p:sp>
      <p:sp>
        <p:nvSpPr>
          <p:cNvPr id="108" name="Google Shape;108;p5"/>
          <p:cNvSpPr txBox="1"/>
          <p:nvPr/>
        </p:nvSpPr>
        <p:spPr>
          <a:xfrm flipH="1">
            <a:off x="6913076" y="1651575"/>
            <a:ext cx="1934700" cy="141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rgbClr val="000000"/>
              </a:buClr>
              <a:buFont typeface="Arial"/>
              <a:buNone/>
            </a:pPr>
            <a:r>
              <a:rPr lang="en-US" sz="1450">
                <a:solidFill>
                  <a:schemeClr val="dk1"/>
                </a:solidFill>
                <a:latin typeface="Anaheim"/>
                <a:ea typeface="Anaheim"/>
                <a:cs typeface="Anaheim"/>
                <a:sym typeface="Anaheim"/>
              </a:rPr>
              <a:t>These variables reflect historical performance and market momentum.</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4629250" y="228600"/>
            <a:ext cx="3919500" cy="770100"/>
          </a:xfrm>
          <a:prstGeom prst="rect">
            <a:avLst/>
          </a:prstGeom>
          <a:noFill/>
          <a:ln>
            <a:noFill/>
          </a:ln>
        </p:spPr>
        <p:txBody>
          <a:bodyPr anchorCtr="0" anchor="t" bIns="91425" lIns="91425" spcFirstLastPara="1" rIns="91425" wrap="square" tIns="91425">
            <a:noAutofit/>
          </a:bodyPr>
          <a:lstStyle/>
          <a:p>
            <a:pPr indent="0" lvl="0" marL="0" rtl="0" algn="l">
              <a:lnSpc>
                <a:spcPct val="70000"/>
              </a:lnSpc>
              <a:spcBef>
                <a:spcPts val="0"/>
              </a:spcBef>
              <a:spcAft>
                <a:spcPts val="0"/>
              </a:spcAft>
              <a:buClr>
                <a:schemeClr val="dk1"/>
              </a:buClr>
              <a:buSzPts val="2340"/>
              <a:buFont typeface="Bricolage Grotesque Medium"/>
              <a:buNone/>
            </a:pPr>
            <a:r>
              <a:rPr b="0" lang="en-US" sz="2540" u="none" strike="noStrike">
                <a:solidFill>
                  <a:schemeClr val="dk1"/>
                </a:solidFill>
                <a:latin typeface="Bricolage Grotesque Medium"/>
                <a:ea typeface="Bricolage Grotesque Medium"/>
                <a:cs typeface="Bricolage Grotesque Medium"/>
                <a:sym typeface="Bricolage Grotesque Medium"/>
              </a:rPr>
              <a:t>Mathematical Foundations of</a:t>
            </a:r>
            <a:r>
              <a:rPr b="1" lang="en-US" sz="2540" u="none" strike="noStrike">
                <a:solidFill>
                  <a:schemeClr val="dk1"/>
                </a:solidFill>
                <a:latin typeface="Bricolage Grotesque"/>
                <a:ea typeface="Bricolage Grotesque"/>
                <a:cs typeface="Bricolage Grotesque"/>
                <a:sym typeface="Bricolage Grotesque"/>
              </a:rPr>
              <a:t> Features</a:t>
            </a:r>
            <a:endParaRPr b="0" sz="2540" u="none" strike="noStrike">
              <a:solidFill>
                <a:schemeClr val="dk1"/>
              </a:solidFill>
              <a:latin typeface="Arial"/>
              <a:ea typeface="Arial"/>
              <a:cs typeface="Arial"/>
              <a:sym typeface="Arial"/>
            </a:endParaRPr>
          </a:p>
        </p:txBody>
      </p:sp>
      <p:sp>
        <p:nvSpPr>
          <p:cNvPr id="114" name="Google Shape;114;p6"/>
          <p:cNvSpPr txBox="1"/>
          <p:nvPr>
            <p:ph idx="1" type="subTitle"/>
          </p:nvPr>
        </p:nvSpPr>
        <p:spPr>
          <a:xfrm>
            <a:off x="4629245" y="1209205"/>
            <a:ext cx="4295400" cy="1676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200"/>
              <a:buFont typeface="Anaheim"/>
              <a:buNone/>
            </a:pPr>
            <a:r>
              <a:rPr b="0" i="0" lang="en-US" sz="1500" u="none" cap="none" strike="noStrike">
                <a:solidFill>
                  <a:schemeClr val="dk1"/>
                </a:solidFill>
                <a:latin typeface="Anaheim"/>
                <a:ea typeface="Anaheim"/>
                <a:cs typeface="Anaheim"/>
                <a:sym typeface="Anaheim"/>
              </a:rPr>
              <a:t>The features used, such as </a:t>
            </a:r>
            <a:r>
              <a:rPr b="0" i="1" lang="en-US" sz="1500" u="none" cap="none" strike="noStrike">
                <a:solidFill>
                  <a:schemeClr val="dk1"/>
                </a:solidFill>
                <a:latin typeface="Anaheim"/>
                <a:ea typeface="Anaheim"/>
                <a:cs typeface="Anaheim"/>
                <a:sym typeface="Anaheim"/>
              </a:rPr>
              <a:t>Return</a:t>
            </a:r>
            <a:r>
              <a:rPr b="0" i="0" lang="en-US" sz="1500" u="none" cap="none" strike="noStrike">
                <a:solidFill>
                  <a:schemeClr val="dk1"/>
                </a:solidFill>
                <a:latin typeface="Anaheim"/>
                <a:ea typeface="Anaheim"/>
                <a:cs typeface="Anaheim"/>
                <a:sym typeface="Anaheim"/>
              </a:rPr>
              <a:t>, </a:t>
            </a:r>
            <a:r>
              <a:rPr b="0" i="1" lang="en-US" sz="1500" u="none" cap="none" strike="noStrike">
                <a:solidFill>
                  <a:schemeClr val="dk1"/>
                </a:solidFill>
                <a:latin typeface="Anaheim"/>
                <a:ea typeface="Anaheim"/>
                <a:cs typeface="Anaheim"/>
                <a:sym typeface="Anaheim"/>
              </a:rPr>
              <a:t>SMA_5</a:t>
            </a:r>
            <a:r>
              <a:rPr b="0" i="0" lang="en-US" sz="1500" u="none" cap="none" strike="noStrike">
                <a:solidFill>
                  <a:schemeClr val="dk1"/>
                </a:solidFill>
                <a:latin typeface="Anaheim"/>
                <a:ea typeface="Anaheim"/>
                <a:cs typeface="Anaheim"/>
                <a:sym typeface="Anaheim"/>
              </a:rPr>
              <a:t>, </a:t>
            </a:r>
            <a:r>
              <a:rPr b="0" i="1" lang="en-US" sz="1500" u="none" cap="none" strike="noStrike">
                <a:solidFill>
                  <a:schemeClr val="dk1"/>
                </a:solidFill>
                <a:latin typeface="Anaheim"/>
                <a:ea typeface="Anaheim"/>
                <a:cs typeface="Anaheim"/>
                <a:sym typeface="Anaheim"/>
              </a:rPr>
              <a:t>SMA_10</a:t>
            </a:r>
            <a:r>
              <a:rPr b="0" i="0" lang="en-US" sz="1500" u="none" cap="none" strike="noStrike">
                <a:solidFill>
                  <a:schemeClr val="dk1"/>
                </a:solidFill>
                <a:latin typeface="Anaheim"/>
                <a:ea typeface="Anaheim"/>
                <a:cs typeface="Anaheim"/>
                <a:sym typeface="Anaheim"/>
              </a:rPr>
              <a:t>, and </a:t>
            </a:r>
            <a:r>
              <a:rPr b="0" i="1" lang="en-US" sz="1500" u="none" cap="none" strike="noStrike">
                <a:solidFill>
                  <a:schemeClr val="dk1"/>
                </a:solidFill>
                <a:latin typeface="Anaheim"/>
                <a:ea typeface="Anaheim"/>
                <a:cs typeface="Anaheim"/>
                <a:sym typeface="Anaheim"/>
              </a:rPr>
              <a:t>RSI</a:t>
            </a:r>
            <a:r>
              <a:rPr b="0" i="0" lang="en-US" sz="1500" u="none" cap="none" strike="noStrike">
                <a:solidFill>
                  <a:schemeClr val="dk1"/>
                </a:solidFill>
                <a:latin typeface="Anaheim"/>
                <a:ea typeface="Anaheim"/>
                <a:cs typeface="Anaheim"/>
                <a:sym typeface="Anaheim"/>
              </a:rPr>
              <a:t>, are grounded in algebra and statistics.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rPr b="0" i="0" lang="en-US" sz="1500" u="none" cap="none" strike="noStrike">
                <a:solidFill>
                  <a:schemeClr val="dk1"/>
                </a:solidFill>
                <a:latin typeface="Anaheim"/>
                <a:ea typeface="Anaheim"/>
                <a:cs typeface="Anaheim"/>
                <a:sym typeface="Anaheim"/>
              </a:rPr>
              <a:t>These involve calculations like averages and ratios that capture trends and momentum. </a:t>
            </a:r>
            <a:endParaRPr b="0" i="0" sz="150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t/>
            </a:r>
            <a:endParaRPr sz="150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rPr lang="en-US" sz="1500">
                <a:solidFill>
                  <a:schemeClr val="dk1"/>
                </a:solidFill>
                <a:latin typeface="Anaheim"/>
                <a:ea typeface="Anaheim"/>
                <a:cs typeface="Anaheim"/>
                <a:sym typeface="Anaheim"/>
              </a:rPr>
              <a:t>They are</a:t>
            </a:r>
            <a:r>
              <a:rPr b="0" i="0" lang="en-US" sz="1500" u="none" cap="none" strike="noStrike">
                <a:solidFill>
                  <a:schemeClr val="dk1"/>
                </a:solidFill>
                <a:latin typeface="Anaheim"/>
                <a:ea typeface="Anaheim"/>
                <a:cs typeface="Anaheim"/>
                <a:sym typeface="Anaheim"/>
              </a:rPr>
              <a:t> vital for interpreting how features influence model predictions and for effective model training through linear combinations and probabilities.</a:t>
            </a:r>
            <a:endParaRPr b="0" i="0" sz="1500" u="none" cap="none" strike="noStrike">
              <a:solidFill>
                <a:srgbClr val="FFFFFF"/>
              </a:solidFill>
              <a:latin typeface="Noto Sans Symbols"/>
              <a:ea typeface="Noto Sans Symbols"/>
              <a:cs typeface="Noto Sans Symbols"/>
              <a:sym typeface="Noto Sans Symbols"/>
            </a:endParaRPr>
          </a:p>
        </p:txBody>
      </p:sp>
      <p:pic>
        <p:nvPicPr>
          <p:cNvPr id="115" name="Google Shape;115;p6"/>
          <p:cNvPicPr preferRelativeResize="0"/>
          <p:nvPr/>
        </p:nvPicPr>
        <p:blipFill>
          <a:blip r:embed="rId3">
            <a:alphaModFix/>
          </a:blip>
          <a:stretch>
            <a:fillRect/>
          </a:stretch>
        </p:blipFill>
        <p:spPr>
          <a:xfrm>
            <a:off x="333900" y="0"/>
            <a:ext cx="3128675" cy="2346506"/>
          </a:xfrm>
          <a:prstGeom prst="rect">
            <a:avLst/>
          </a:prstGeom>
          <a:noFill/>
          <a:ln>
            <a:noFill/>
          </a:ln>
        </p:spPr>
      </p:pic>
      <p:sp>
        <p:nvSpPr>
          <p:cNvPr id="116" name="Google Shape;116;p6"/>
          <p:cNvSpPr txBox="1"/>
          <p:nvPr/>
        </p:nvSpPr>
        <p:spPr>
          <a:xfrm>
            <a:off x="-90500" y="2150886"/>
            <a:ext cx="7059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17" name="Google Shape;117;p6"/>
          <p:cNvPicPr preferRelativeResize="0"/>
          <p:nvPr/>
        </p:nvPicPr>
        <p:blipFill>
          <a:blip r:embed="rId4">
            <a:alphaModFix/>
          </a:blip>
          <a:stretch>
            <a:fillRect/>
          </a:stretch>
        </p:blipFill>
        <p:spPr>
          <a:xfrm>
            <a:off x="333900" y="1904724"/>
            <a:ext cx="3128686" cy="1676100"/>
          </a:xfrm>
          <a:prstGeom prst="rect">
            <a:avLst/>
          </a:prstGeom>
          <a:noFill/>
          <a:ln>
            <a:noFill/>
          </a:ln>
        </p:spPr>
      </p:pic>
      <p:pic>
        <p:nvPicPr>
          <p:cNvPr id="118" name="Google Shape;118;p6"/>
          <p:cNvPicPr preferRelativeResize="0"/>
          <p:nvPr/>
        </p:nvPicPr>
        <p:blipFill>
          <a:blip r:embed="rId5">
            <a:alphaModFix/>
          </a:blip>
          <a:stretch>
            <a:fillRect/>
          </a:stretch>
        </p:blipFill>
        <p:spPr>
          <a:xfrm>
            <a:off x="152400" y="3720008"/>
            <a:ext cx="4295400" cy="1271092"/>
          </a:xfrm>
          <a:prstGeom prst="rect">
            <a:avLst/>
          </a:prstGeom>
          <a:noFill/>
          <a:ln>
            <a:noFill/>
          </a:ln>
        </p:spPr>
      </p:pic>
      <p:sp>
        <p:nvSpPr>
          <p:cNvPr id="119" name="Google Shape;119;p6"/>
          <p:cNvSpPr txBox="1"/>
          <p:nvPr/>
        </p:nvSpPr>
        <p:spPr>
          <a:xfrm>
            <a:off x="4245425" y="4558375"/>
            <a:ext cx="32250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rgbClr val="FFFFFF"/>
                </a:solidFill>
                <a:highlight>
                  <a:schemeClr val="lt1"/>
                </a:highlight>
                <a:latin typeface="Roboto"/>
                <a:ea typeface="Roboto"/>
                <a:cs typeface="Roboto"/>
                <a:sym typeface="Roboto"/>
              </a:rPr>
              <a:t>*RS compares the performance of one asset against another</a:t>
            </a:r>
            <a:endParaRPr sz="1500">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377495" y="1003115"/>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Predictive Modeling</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Overview</a:t>
            </a:r>
            <a:endParaRPr b="0" sz="3100" u="none" strike="noStrike">
              <a:solidFill>
                <a:schemeClr val="dk1"/>
              </a:solidFill>
              <a:latin typeface="Arial"/>
              <a:ea typeface="Arial"/>
              <a:cs typeface="Arial"/>
              <a:sym typeface="Arial"/>
            </a:endParaRPr>
          </a:p>
        </p:txBody>
      </p:sp>
      <p:pic>
        <p:nvPicPr>
          <p:cNvPr id="125" name="Google Shape;125;p3" title="Data Download.png"/>
          <p:cNvPicPr preferRelativeResize="0"/>
          <p:nvPr/>
        </p:nvPicPr>
        <p:blipFill>
          <a:blip r:embed="rId3">
            <a:alphaModFix/>
          </a:blip>
          <a:stretch>
            <a:fillRect/>
          </a:stretch>
        </p:blipFill>
        <p:spPr>
          <a:xfrm>
            <a:off x="179525" y="2485725"/>
            <a:ext cx="4691801" cy="2286300"/>
          </a:xfrm>
          <a:prstGeom prst="rect">
            <a:avLst/>
          </a:prstGeom>
          <a:noFill/>
          <a:ln>
            <a:noFill/>
          </a:ln>
        </p:spPr>
      </p:pic>
      <p:pic>
        <p:nvPicPr>
          <p:cNvPr id="126" name="Google Shape;126;p3" title="Features.png"/>
          <p:cNvPicPr preferRelativeResize="0"/>
          <p:nvPr/>
        </p:nvPicPr>
        <p:blipFill>
          <a:blip r:embed="rId4">
            <a:alphaModFix/>
          </a:blip>
          <a:stretch>
            <a:fillRect/>
          </a:stretch>
        </p:blipFill>
        <p:spPr>
          <a:xfrm>
            <a:off x="5001050" y="134150"/>
            <a:ext cx="3876151" cy="4749525"/>
          </a:xfrm>
          <a:prstGeom prst="rect">
            <a:avLst/>
          </a:prstGeom>
          <a:noFill/>
          <a:ln>
            <a:noFill/>
          </a:ln>
        </p:spPr>
      </p:pic>
      <p:sp>
        <p:nvSpPr>
          <p:cNvPr id="127" name="Google Shape;127;p3"/>
          <p:cNvSpPr txBox="1"/>
          <p:nvPr/>
        </p:nvSpPr>
        <p:spPr>
          <a:xfrm>
            <a:off x="2313225" y="1836950"/>
            <a:ext cx="1714500" cy="5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1: Importing the data. </a:t>
            </a:r>
            <a:endParaRPr>
              <a:solidFill>
                <a:schemeClr val="dk1"/>
              </a:solidFill>
            </a:endParaRPr>
          </a:p>
        </p:txBody>
      </p:sp>
      <p:sp>
        <p:nvSpPr>
          <p:cNvPr id="128" name="Google Shape;128;p3"/>
          <p:cNvSpPr txBox="1"/>
          <p:nvPr/>
        </p:nvSpPr>
        <p:spPr>
          <a:xfrm>
            <a:off x="3748800" y="612325"/>
            <a:ext cx="1646400" cy="2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2: Imputing Features.</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4629240" y="228600"/>
            <a:ext cx="3904920" cy="76176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70000"/>
              </a:lnSpc>
              <a:spcBef>
                <a:spcPts val="0"/>
              </a:spcBef>
              <a:spcAft>
                <a:spcPts val="0"/>
              </a:spcAft>
              <a:buClr>
                <a:schemeClr val="dk1"/>
              </a:buClr>
              <a:buSzPct val="100000"/>
              <a:buFont typeface="Bricolage Grotesque Medium"/>
              <a:buNone/>
            </a:pPr>
            <a:r>
              <a:rPr b="0" lang="en-US" sz="2600" u="none" strike="noStrike">
                <a:solidFill>
                  <a:schemeClr val="dk1"/>
                </a:solidFill>
                <a:latin typeface="Bricolage Grotesque Medium"/>
                <a:ea typeface="Bricolage Grotesque Medium"/>
                <a:cs typeface="Bricolage Grotesque Medium"/>
                <a:sym typeface="Bricolage Grotesque Medium"/>
              </a:rPr>
              <a:t>Models Used: Logistic Regression and Random</a:t>
            </a:r>
            <a:r>
              <a:rPr lang="en-US" sz="2600" u="none" strike="noStrike">
                <a:solidFill>
                  <a:schemeClr val="dk1"/>
                </a:solidFill>
                <a:latin typeface="Bricolage Grotesque"/>
                <a:ea typeface="Bricolage Grotesque"/>
                <a:cs typeface="Bricolage Grotesque"/>
                <a:sym typeface="Bricolage Grotesque"/>
              </a:rPr>
              <a:t> Forest</a:t>
            </a:r>
            <a:endParaRPr sz="2600" u="none" strike="noStrike">
              <a:solidFill>
                <a:schemeClr val="dk1"/>
              </a:solidFill>
            </a:endParaRPr>
          </a:p>
        </p:txBody>
      </p:sp>
      <p:sp>
        <p:nvSpPr>
          <p:cNvPr id="134" name="Google Shape;134;p8"/>
          <p:cNvSpPr txBox="1"/>
          <p:nvPr>
            <p:ph idx="1" type="subTitle"/>
          </p:nvPr>
        </p:nvSpPr>
        <p:spPr>
          <a:xfrm>
            <a:off x="4629245" y="1118195"/>
            <a:ext cx="4295400" cy="1676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200"/>
              <a:buFont typeface="Anaheim"/>
              <a:buNone/>
            </a:pPr>
            <a:r>
              <a:rPr b="0" i="0" lang="en-US" sz="1150" u="none" cap="none" strike="noStrike">
                <a:solidFill>
                  <a:schemeClr val="dk1"/>
                </a:solidFill>
                <a:latin typeface="Anaheim"/>
                <a:ea typeface="Anaheim"/>
                <a:cs typeface="Anaheim"/>
                <a:sym typeface="Anaheim"/>
              </a:rPr>
              <a:t>Logistic Regression uses a linear approach to estimate probabilities</a:t>
            </a:r>
            <a:endParaRPr b="0" i="0" sz="1150" u="none" cap="none" strike="noStrike">
              <a:solidFill>
                <a:schemeClr val="dk1"/>
              </a:solidFill>
              <a:latin typeface="Anaheim"/>
              <a:ea typeface="Anaheim"/>
              <a:cs typeface="Anaheim"/>
              <a:sym typeface="Anaheim"/>
            </a:endParaRPr>
          </a:p>
          <a:p>
            <a:pPr indent="-301625" lvl="0" marL="457200" marR="0" rtl="0" algn="l">
              <a:lnSpc>
                <a:spcPct val="150000"/>
              </a:lnSpc>
              <a:spcBef>
                <a:spcPts val="0"/>
              </a:spcBef>
              <a:spcAft>
                <a:spcPts val="0"/>
              </a:spcAft>
              <a:buClr>
                <a:schemeClr val="dk1"/>
              </a:buClr>
              <a:buSzPts val="1150"/>
              <a:buFont typeface="Anaheim"/>
              <a:buChar char="●"/>
            </a:pPr>
            <a:r>
              <a:rPr lang="en-US" sz="1150">
                <a:solidFill>
                  <a:schemeClr val="dk1"/>
                </a:solidFill>
                <a:latin typeface="Anaheim"/>
                <a:ea typeface="Anaheim"/>
                <a:cs typeface="Anaheim"/>
                <a:sym typeface="Anaheim"/>
              </a:rPr>
              <a:t>Like asking your friends for advice, but some friend’s opinions count more than others. You combine their advice, then pick the most likely outcome.</a:t>
            </a:r>
            <a:endParaRPr sz="115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t/>
            </a:r>
            <a:endParaRPr sz="115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rPr b="0" i="0" lang="en-US" sz="1150" u="none" cap="none" strike="noStrike">
                <a:solidFill>
                  <a:schemeClr val="dk1"/>
                </a:solidFill>
                <a:latin typeface="Anaheim"/>
                <a:ea typeface="Anaheim"/>
                <a:cs typeface="Anaheim"/>
                <a:sym typeface="Anaheim"/>
              </a:rPr>
              <a:t>Random Forest employs ensemble decision trees to capture complex patterns. </a:t>
            </a:r>
            <a:endParaRPr b="0" i="0" sz="1150" u="none" cap="none" strike="noStrike">
              <a:solidFill>
                <a:schemeClr val="dk1"/>
              </a:solidFill>
              <a:latin typeface="Anaheim"/>
              <a:ea typeface="Anaheim"/>
              <a:cs typeface="Anaheim"/>
              <a:sym typeface="Anaheim"/>
            </a:endParaRPr>
          </a:p>
          <a:p>
            <a:pPr indent="-301625" lvl="0" marL="457200" marR="0" rtl="0" algn="l">
              <a:lnSpc>
                <a:spcPct val="150000"/>
              </a:lnSpc>
              <a:spcBef>
                <a:spcPts val="0"/>
              </a:spcBef>
              <a:spcAft>
                <a:spcPts val="0"/>
              </a:spcAft>
              <a:buClr>
                <a:schemeClr val="dk1"/>
              </a:buClr>
              <a:buSzPts val="1150"/>
              <a:buFont typeface="Anaheim"/>
              <a:buChar char="●"/>
            </a:pPr>
            <a:r>
              <a:rPr lang="en-US" sz="1150">
                <a:solidFill>
                  <a:schemeClr val="dk1"/>
                </a:solidFill>
                <a:latin typeface="Anaheim"/>
                <a:ea typeface="Anaheim"/>
                <a:cs typeface="Anaheim"/>
                <a:sym typeface="Anaheim"/>
              </a:rPr>
              <a:t>Like having a committee of experts, and each expert asks a simple yes or no question about the data and makes a prediction. Then you combine all their predictions to get a final answer.</a:t>
            </a:r>
            <a:endParaRPr sz="115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t/>
            </a:r>
            <a:endParaRPr sz="1150">
              <a:solidFill>
                <a:schemeClr val="dk1"/>
              </a:solidFill>
              <a:latin typeface="Anaheim"/>
              <a:ea typeface="Anaheim"/>
              <a:cs typeface="Anaheim"/>
              <a:sym typeface="Anaheim"/>
            </a:endParaRPr>
          </a:p>
          <a:p>
            <a:pPr indent="0" lvl="0" marL="0" marR="0" rtl="0" algn="l">
              <a:lnSpc>
                <a:spcPct val="150000"/>
              </a:lnSpc>
              <a:spcBef>
                <a:spcPts val="0"/>
              </a:spcBef>
              <a:spcAft>
                <a:spcPts val="0"/>
              </a:spcAft>
              <a:buClr>
                <a:schemeClr val="dk1"/>
              </a:buClr>
              <a:buSzPts val="1200"/>
              <a:buFont typeface="Anaheim"/>
              <a:buNone/>
            </a:pPr>
            <a:r>
              <a:rPr b="0" i="0" lang="en-US" sz="1150" u="none" cap="none" strike="noStrike">
                <a:solidFill>
                  <a:schemeClr val="dk1"/>
                </a:solidFill>
                <a:latin typeface="Anaheim"/>
                <a:ea typeface="Anaheim"/>
                <a:cs typeface="Anaheim"/>
                <a:sym typeface="Anaheim"/>
              </a:rPr>
              <a:t>Both models utilize the features to predict the target, offering complementary strengths in handling linearity and non-linearity in data.</a:t>
            </a:r>
            <a:endParaRPr b="0" i="0" sz="1150" u="none" cap="none" strike="noStrike">
              <a:solidFill>
                <a:srgbClr val="FFFFFF"/>
              </a:solidFill>
              <a:latin typeface="Noto Sans Symbols"/>
              <a:ea typeface="Noto Sans Symbols"/>
              <a:cs typeface="Noto Sans Symbols"/>
              <a:sym typeface="Noto Sans Symbols"/>
            </a:endParaRPr>
          </a:p>
        </p:txBody>
      </p:sp>
      <p:sp>
        <p:nvSpPr>
          <p:cNvPr id="135" name="Google Shape;135;p8"/>
          <p:cNvSpPr txBox="1"/>
          <p:nvPr/>
        </p:nvSpPr>
        <p:spPr>
          <a:xfrm>
            <a:off x="106061" y="2081965"/>
            <a:ext cx="82728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6" name="Google Shape;136;p8"/>
          <p:cNvPicPr preferRelativeResize="0"/>
          <p:nvPr/>
        </p:nvPicPr>
        <p:blipFill>
          <a:blip r:embed="rId3">
            <a:alphaModFix/>
          </a:blip>
          <a:stretch>
            <a:fillRect/>
          </a:stretch>
        </p:blipFill>
        <p:spPr>
          <a:xfrm>
            <a:off x="2271800" y="1970374"/>
            <a:ext cx="2357439" cy="1202775"/>
          </a:xfrm>
          <a:prstGeom prst="rect">
            <a:avLst/>
          </a:prstGeom>
          <a:noFill/>
          <a:ln>
            <a:noFill/>
          </a:ln>
        </p:spPr>
      </p:pic>
      <p:pic>
        <p:nvPicPr>
          <p:cNvPr id="137" name="Google Shape;137;p8"/>
          <p:cNvPicPr preferRelativeResize="0"/>
          <p:nvPr/>
        </p:nvPicPr>
        <p:blipFill>
          <a:blip r:embed="rId4">
            <a:alphaModFix/>
          </a:blip>
          <a:stretch>
            <a:fillRect/>
          </a:stretch>
        </p:blipFill>
        <p:spPr>
          <a:xfrm>
            <a:off x="1011114" y="653225"/>
            <a:ext cx="2357425" cy="1428750"/>
          </a:xfrm>
          <a:prstGeom prst="rect">
            <a:avLst/>
          </a:prstGeom>
          <a:noFill/>
          <a:ln>
            <a:noFill/>
          </a:ln>
        </p:spPr>
      </p:pic>
      <p:pic>
        <p:nvPicPr>
          <p:cNvPr id="138" name="Google Shape;138;p8"/>
          <p:cNvPicPr preferRelativeResize="0"/>
          <p:nvPr/>
        </p:nvPicPr>
        <p:blipFill>
          <a:blip r:embed="rId5">
            <a:alphaModFix/>
          </a:blip>
          <a:stretch>
            <a:fillRect/>
          </a:stretch>
        </p:blipFill>
        <p:spPr>
          <a:xfrm>
            <a:off x="228738" y="3173145"/>
            <a:ext cx="2516140" cy="1887105"/>
          </a:xfrm>
          <a:prstGeom prst="rect">
            <a:avLst/>
          </a:prstGeom>
          <a:noFill/>
          <a:ln>
            <a:noFill/>
          </a:ln>
        </p:spPr>
      </p:pic>
      <p:sp>
        <p:nvSpPr>
          <p:cNvPr id="139" name="Google Shape;139;p8"/>
          <p:cNvSpPr txBox="1"/>
          <p:nvPr/>
        </p:nvSpPr>
        <p:spPr>
          <a:xfrm>
            <a:off x="385375" y="125850"/>
            <a:ext cx="1187700" cy="2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accent6"/>
                </a:solidFill>
              </a:rPr>
              <a:t>Logistic Regression:</a:t>
            </a:r>
            <a:endParaRPr>
              <a:solidFill>
                <a:schemeClr val="accent6"/>
              </a:solidFill>
            </a:endParaRPr>
          </a:p>
        </p:txBody>
      </p:sp>
      <p:sp>
        <p:nvSpPr>
          <p:cNvPr id="140" name="Google Shape;140;p8"/>
          <p:cNvSpPr txBox="1"/>
          <p:nvPr/>
        </p:nvSpPr>
        <p:spPr>
          <a:xfrm>
            <a:off x="106050" y="2626900"/>
            <a:ext cx="1187700" cy="1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accent6"/>
                </a:solidFill>
              </a:rPr>
              <a:t>Random Forest:</a:t>
            </a:r>
            <a:endParaRPr>
              <a:solidFill>
                <a:schemeClr val="accent6"/>
              </a:solidFill>
            </a:endParaRPr>
          </a:p>
        </p:txBody>
      </p:sp>
      <p:pic>
        <p:nvPicPr>
          <p:cNvPr id="141" name="Google Shape;141;p8"/>
          <p:cNvPicPr preferRelativeResize="0"/>
          <p:nvPr/>
        </p:nvPicPr>
        <p:blipFill>
          <a:blip r:embed="rId6">
            <a:alphaModFix/>
          </a:blip>
          <a:stretch>
            <a:fillRect/>
          </a:stretch>
        </p:blipFill>
        <p:spPr>
          <a:xfrm>
            <a:off x="2744877" y="3569900"/>
            <a:ext cx="2207950" cy="694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5" y="562690"/>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Model Implementation and</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Analysis</a:t>
            </a:r>
            <a:endParaRPr b="0" sz="3100" u="none" strike="noStrike">
              <a:solidFill>
                <a:schemeClr val="dk1"/>
              </a:solidFill>
              <a:latin typeface="Arial"/>
              <a:ea typeface="Arial"/>
              <a:cs typeface="Arial"/>
              <a:sym typeface="Arial"/>
            </a:endParaRPr>
          </a:p>
        </p:txBody>
      </p:sp>
      <p:pic>
        <p:nvPicPr>
          <p:cNvPr id="147" name="Google Shape;147;p7" title="train models.png"/>
          <p:cNvPicPr preferRelativeResize="0"/>
          <p:nvPr/>
        </p:nvPicPr>
        <p:blipFill>
          <a:blip r:embed="rId3">
            <a:alphaModFix/>
          </a:blip>
          <a:stretch>
            <a:fillRect/>
          </a:stretch>
        </p:blipFill>
        <p:spPr>
          <a:xfrm>
            <a:off x="3850425" y="0"/>
            <a:ext cx="3881872" cy="51435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1" type="subTitle"/>
          </p:nvPr>
        </p:nvSpPr>
        <p:spPr>
          <a:xfrm>
            <a:off x="3359344" y="289368"/>
            <a:ext cx="3847800" cy="1638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0" i="0" lang="en-US" sz="1250" u="none" cap="none" strike="noStrike">
                <a:solidFill>
                  <a:schemeClr val="dk1"/>
                </a:solidFill>
                <a:latin typeface="Anaheim"/>
                <a:ea typeface="Anaheim"/>
                <a:cs typeface="Anaheim"/>
                <a:sym typeface="Anaheim"/>
              </a:rPr>
              <a:t>Model performance was assessed using metrics like:</a:t>
            </a:r>
            <a:endParaRPr b="0" i="0" sz="1250" u="none" cap="none" strike="noStrike">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1" i="0" lang="en-US" sz="1250" u="none" cap="none" strike="noStrike">
                <a:solidFill>
                  <a:schemeClr val="dk1"/>
                </a:solidFill>
                <a:latin typeface="Anaheim"/>
                <a:ea typeface="Anaheim"/>
                <a:cs typeface="Anaheim"/>
                <a:sym typeface="Anaheim"/>
              </a:rPr>
              <a:t>MAE (Mean Absolute Error)</a:t>
            </a:r>
            <a:r>
              <a:rPr b="0" i="0" lang="en-US" sz="1250" u="none" cap="none" strike="noStrike">
                <a:solidFill>
                  <a:schemeClr val="dk1"/>
                </a:solidFill>
                <a:latin typeface="Anaheim"/>
                <a:ea typeface="Anaheim"/>
                <a:cs typeface="Anaheim"/>
                <a:sym typeface="Anaheim"/>
              </a:rPr>
              <a:t>, </a:t>
            </a:r>
            <a:endParaRPr sz="1250">
              <a:solidFill>
                <a:schemeClr val="dk1"/>
              </a:solidFill>
              <a:latin typeface="Anaheim"/>
              <a:ea typeface="Anaheim"/>
              <a:cs typeface="Anaheim"/>
              <a:sym typeface="Anaheim"/>
            </a:endParaRPr>
          </a:p>
          <a:p>
            <a:pPr indent="-307975" lvl="0" marL="457200" marR="0" rtl="0" algn="l">
              <a:lnSpc>
                <a:spcPct val="150000"/>
              </a:lnSpc>
              <a:spcBef>
                <a:spcPts val="0"/>
              </a:spcBef>
              <a:spcAft>
                <a:spcPts val="0"/>
              </a:spcAft>
              <a:buClr>
                <a:schemeClr val="dk1"/>
              </a:buClr>
              <a:buSzPts val="1250"/>
              <a:buFont typeface="Anaheim"/>
              <a:buChar char="●"/>
            </a:pPr>
            <a:r>
              <a:rPr lang="en-US" sz="1250">
                <a:solidFill>
                  <a:schemeClr val="dk1"/>
                </a:solidFill>
                <a:latin typeface="Anaheim"/>
                <a:ea typeface="Anaheim"/>
                <a:cs typeface="Anaheim"/>
                <a:sym typeface="Anaheim"/>
              </a:rPr>
              <a:t>On average, how far off were they?</a:t>
            </a:r>
            <a:endParaRPr sz="125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1" i="0" lang="en-US" sz="1250" u="none" cap="none" strike="noStrike">
                <a:solidFill>
                  <a:schemeClr val="dk1"/>
                </a:solidFill>
                <a:latin typeface="Anaheim"/>
                <a:ea typeface="Anaheim"/>
                <a:cs typeface="Anaheim"/>
                <a:sym typeface="Anaheim"/>
              </a:rPr>
              <a:t>MSE (Mean Squared Error)</a:t>
            </a:r>
            <a:r>
              <a:rPr b="0" i="0" lang="en-US" sz="1250" u="none" cap="none" strike="noStrike">
                <a:solidFill>
                  <a:schemeClr val="dk1"/>
                </a:solidFill>
                <a:latin typeface="Anaheim"/>
                <a:ea typeface="Anaheim"/>
                <a:cs typeface="Anaheim"/>
                <a:sym typeface="Anaheim"/>
              </a:rPr>
              <a:t>, </a:t>
            </a:r>
            <a:endParaRPr b="0" i="0" sz="1250" u="none" cap="none" strike="noStrike">
              <a:solidFill>
                <a:schemeClr val="dk1"/>
              </a:solidFill>
              <a:latin typeface="Anaheim"/>
              <a:ea typeface="Anaheim"/>
              <a:cs typeface="Anaheim"/>
              <a:sym typeface="Anaheim"/>
            </a:endParaRPr>
          </a:p>
          <a:p>
            <a:pPr indent="-307975" lvl="0" marL="457200" marR="0" rtl="0" algn="l">
              <a:lnSpc>
                <a:spcPct val="150000"/>
              </a:lnSpc>
              <a:spcBef>
                <a:spcPts val="0"/>
              </a:spcBef>
              <a:spcAft>
                <a:spcPts val="0"/>
              </a:spcAft>
              <a:buClr>
                <a:schemeClr val="dk1"/>
              </a:buClr>
              <a:buSzPts val="1250"/>
              <a:buFont typeface="Anaheim"/>
              <a:buChar char="●"/>
            </a:pPr>
            <a:r>
              <a:rPr lang="en-US" sz="1250">
                <a:solidFill>
                  <a:schemeClr val="dk1"/>
                </a:solidFill>
                <a:latin typeface="Anaheim"/>
                <a:ea typeface="Anaheim"/>
                <a:cs typeface="Anaheim"/>
                <a:sym typeface="Anaheim"/>
              </a:rPr>
              <a:t>Penalizes mistakes more heavily, so the model tries to avoid large errors.</a:t>
            </a:r>
            <a:endParaRPr sz="125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1" i="0" lang="en-US" sz="1250" u="none" cap="none" strike="noStrike">
                <a:solidFill>
                  <a:schemeClr val="dk1"/>
                </a:solidFill>
                <a:latin typeface="Anaheim"/>
                <a:ea typeface="Anaheim"/>
                <a:cs typeface="Anaheim"/>
                <a:sym typeface="Anaheim"/>
              </a:rPr>
              <a:t>R² (Coefficient of Determination),</a:t>
            </a:r>
            <a:endParaRPr b="1" i="0" sz="1250" u="none" cap="none" strike="noStrike">
              <a:solidFill>
                <a:schemeClr val="dk1"/>
              </a:solidFill>
              <a:latin typeface="Anaheim"/>
              <a:ea typeface="Anaheim"/>
              <a:cs typeface="Anaheim"/>
              <a:sym typeface="Anaheim"/>
            </a:endParaRPr>
          </a:p>
          <a:p>
            <a:pPr indent="-307975" lvl="0" marL="457200" marR="0" rtl="0" algn="l">
              <a:lnSpc>
                <a:spcPct val="150000"/>
              </a:lnSpc>
              <a:spcBef>
                <a:spcPts val="0"/>
              </a:spcBef>
              <a:spcAft>
                <a:spcPts val="0"/>
              </a:spcAft>
              <a:buClr>
                <a:schemeClr val="dk1"/>
              </a:buClr>
              <a:buSzPts val="1250"/>
              <a:buFont typeface="Anaheim"/>
              <a:buChar char="●"/>
            </a:pPr>
            <a:r>
              <a:rPr lang="en-US" sz="1250">
                <a:solidFill>
                  <a:schemeClr val="dk1"/>
                </a:solidFill>
                <a:latin typeface="Anaheim"/>
                <a:ea typeface="Anaheim"/>
                <a:cs typeface="Anaheim"/>
                <a:sym typeface="Anaheim"/>
              </a:rPr>
              <a:t>How much variation in the data can the model explain?</a:t>
            </a:r>
            <a:endParaRPr sz="125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0" i="0" lang="en-US" sz="1250" u="none" cap="none" strike="noStrike">
                <a:solidFill>
                  <a:schemeClr val="dk1"/>
                </a:solidFill>
                <a:latin typeface="Anaheim"/>
                <a:ea typeface="Anaheim"/>
                <a:cs typeface="Anaheim"/>
                <a:sym typeface="Anaheim"/>
              </a:rPr>
              <a:t>and </a:t>
            </a:r>
            <a:r>
              <a:rPr b="1" i="0" lang="en-US" sz="1250" u="none" cap="none" strike="noStrike">
                <a:solidFill>
                  <a:schemeClr val="dk1"/>
                </a:solidFill>
                <a:latin typeface="Anaheim"/>
                <a:ea typeface="Anaheim"/>
                <a:cs typeface="Anaheim"/>
                <a:sym typeface="Anaheim"/>
              </a:rPr>
              <a:t>percentage of wins</a:t>
            </a:r>
            <a:r>
              <a:rPr b="0" i="0" lang="en-US" sz="1250" u="none" cap="none" strike="noStrike">
                <a:solidFill>
                  <a:schemeClr val="dk1"/>
                </a:solidFill>
                <a:latin typeface="Anaheim"/>
                <a:ea typeface="Anaheim"/>
                <a:cs typeface="Anaheim"/>
                <a:sym typeface="Anaheim"/>
              </a:rPr>
              <a:t>. </a:t>
            </a:r>
            <a:endParaRPr b="0" i="0" sz="1250" u="none" cap="none" strike="noStrike">
              <a:solidFill>
                <a:schemeClr val="dk1"/>
              </a:solidFill>
              <a:latin typeface="Anaheim"/>
              <a:ea typeface="Anaheim"/>
              <a:cs typeface="Anaheim"/>
              <a:sym typeface="Anaheim"/>
            </a:endParaRPr>
          </a:p>
          <a:p>
            <a:pPr indent="-307975" lvl="0" marL="457200" marR="0" rtl="0" algn="l">
              <a:lnSpc>
                <a:spcPct val="150000"/>
              </a:lnSpc>
              <a:spcBef>
                <a:spcPts val="0"/>
              </a:spcBef>
              <a:spcAft>
                <a:spcPts val="0"/>
              </a:spcAft>
              <a:buClr>
                <a:schemeClr val="dk1"/>
              </a:buClr>
              <a:buSzPts val="1250"/>
              <a:buFont typeface="Anaheim"/>
              <a:buChar char="●"/>
            </a:pPr>
            <a:r>
              <a:rPr lang="en-US" sz="1250">
                <a:solidFill>
                  <a:schemeClr val="dk1"/>
                </a:solidFill>
                <a:latin typeface="Anaheim"/>
                <a:ea typeface="Anaheim"/>
                <a:cs typeface="Anaheim"/>
                <a:sym typeface="Anaheim"/>
              </a:rPr>
              <a:t>A comparison of how accurate the two models were.</a:t>
            </a:r>
            <a:endParaRPr sz="125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t/>
            </a:r>
            <a:endParaRPr sz="1250">
              <a:solidFill>
                <a:schemeClr val="dk1"/>
              </a:solidFill>
              <a:latin typeface="Anaheim"/>
              <a:ea typeface="Anaheim"/>
              <a:cs typeface="Anaheim"/>
              <a:sym typeface="Anaheim"/>
            </a:endParaRPr>
          </a:p>
          <a:p>
            <a:pPr indent="0" lvl="0" marL="0" marR="0" rtl="0" algn="l">
              <a:lnSpc>
                <a:spcPct val="150000"/>
              </a:lnSpc>
              <a:spcBef>
                <a:spcPts val="0"/>
              </a:spcBef>
              <a:spcAft>
                <a:spcPts val="0"/>
              </a:spcAft>
              <a:buNone/>
            </a:pPr>
            <a:r>
              <a:rPr b="0" i="0" lang="en-US" sz="1250" u="none" cap="none" strike="noStrike">
                <a:solidFill>
                  <a:schemeClr val="dk1"/>
                </a:solidFill>
                <a:latin typeface="Anaheim"/>
                <a:ea typeface="Anaheim"/>
                <a:cs typeface="Anaheim"/>
                <a:sym typeface="Anaheim"/>
              </a:rPr>
              <a:t>Visual plots illustrate prediction accuracy and error distribution, providing insight into model reliability and comparative effectiveness on the dataset.</a:t>
            </a:r>
            <a:endParaRPr b="0" i="0" sz="1250" u="none" cap="none" strike="noStrike">
              <a:solidFill>
                <a:srgbClr val="FFFFFF"/>
              </a:solidFill>
              <a:latin typeface="Noto Sans Symbols"/>
              <a:ea typeface="Noto Sans Symbols"/>
              <a:cs typeface="Noto Sans Symbols"/>
              <a:sym typeface="Noto Sans Symbols"/>
            </a:endParaRPr>
          </a:p>
        </p:txBody>
      </p:sp>
      <p:sp>
        <p:nvSpPr>
          <p:cNvPr id="153" name="Google Shape;153;p9"/>
          <p:cNvSpPr txBox="1"/>
          <p:nvPr>
            <p:ph type="title"/>
          </p:nvPr>
        </p:nvSpPr>
        <p:spPr>
          <a:xfrm>
            <a:off x="166470" y="916615"/>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Evaluation Metrics and</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Visualization</a:t>
            </a:r>
            <a:endParaRPr b="0" sz="3100" u="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g29d76e931d2bae15_0"/>
          <p:cNvPicPr preferRelativeResize="0"/>
          <p:nvPr/>
        </p:nvPicPr>
        <p:blipFill>
          <a:blip r:embed="rId3">
            <a:alphaModFix/>
          </a:blip>
          <a:stretch>
            <a:fillRect/>
          </a:stretch>
        </p:blipFill>
        <p:spPr>
          <a:xfrm>
            <a:off x="3061575" y="3116025"/>
            <a:ext cx="6082425" cy="2027475"/>
          </a:xfrm>
          <a:prstGeom prst="rect">
            <a:avLst/>
          </a:prstGeom>
          <a:noFill/>
          <a:ln>
            <a:noFill/>
          </a:ln>
        </p:spPr>
      </p:pic>
      <p:sp>
        <p:nvSpPr>
          <p:cNvPr id="159" name="Google Shape;159;g29d76e931d2bae15_0"/>
          <p:cNvSpPr txBox="1"/>
          <p:nvPr/>
        </p:nvSpPr>
        <p:spPr>
          <a:xfrm>
            <a:off x="3265675" y="353750"/>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accent6"/>
                </a:solidFill>
                <a:highlight>
                  <a:schemeClr val="lt1"/>
                </a:highlight>
              </a:rPr>
              <a:t>Winner Summary (entire test set of 374 samples):</a:t>
            </a:r>
            <a:endParaRPr sz="2000">
              <a:solidFill>
                <a:schemeClr val="accent6"/>
              </a:solidFill>
              <a:highlight>
                <a:schemeClr val="lt1"/>
              </a:highlight>
            </a:endParaRPr>
          </a:p>
          <a:p>
            <a:pPr indent="0" lvl="0" marL="0" rtl="0" algn="l">
              <a:spcBef>
                <a:spcPts val="0"/>
              </a:spcBef>
              <a:spcAft>
                <a:spcPts val="0"/>
              </a:spcAft>
              <a:buNone/>
            </a:pPr>
            <a:r>
              <a:rPr lang="en-US" sz="2000">
                <a:solidFill>
                  <a:schemeClr val="accent6"/>
                </a:solidFill>
                <a:highlight>
                  <a:schemeClr val="lt1"/>
                </a:highlight>
              </a:rPr>
              <a:t>Logistic Regression wins: 33 (8.82%)</a:t>
            </a:r>
            <a:endParaRPr sz="2000">
              <a:solidFill>
                <a:schemeClr val="accent6"/>
              </a:solidFill>
              <a:highlight>
                <a:schemeClr val="lt1"/>
              </a:highlight>
            </a:endParaRPr>
          </a:p>
          <a:p>
            <a:pPr indent="0" lvl="0" marL="0" rtl="0" algn="l">
              <a:spcBef>
                <a:spcPts val="0"/>
              </a:spcBef>
              <a:spcAft>
                <a:spcPts val="0"/>
              </a:spcAft>
              <a:buNone/>
            </a:pPr>
            <a:r>
              <a:rPr lang="en-US" sz="2000">
                <a:solidFill>
                  <a:schemeClr val="accent6"/>
                </a:solidFill>
                <a:highlight>
                  <a:schemeClr val="lt1"/>
                </a:highlight>
              </a:rPr>
              <a:t>Random Forest wins: 32 (8.56%)</a:t>
            </a:r>
            <a:endParaRPr sz="2000">
              <a:solidFill>
                <a:schemeClr val="accent6"/>
              </a:solidFill>
              <a:highlight>
                <a:schemeClr val="lt1"/>
              </a:highlight>
            </a:endParaRPr>
          </a:p>
          <a:p>
            <a:pPr indent="0" lvl="0" marL="0" rtl="0" algn="l">
              <a:spcBef>
                <a:spcPts val="0"/>
              </a:spcBef>
              <a:spcAft>
                <a:spcPts val="0"/>
              </a:spcAft>
              <a:buNone/>
            </a:pPr>
            <a:r>
              <a:rPr lang="en-US" sz="2000">
                <a:solidFill>
                  <a:schemeClr val="accent6"/>
                </a:solidFill>
                <a:highlight>
                  <a:schemeClr val="lt1"/>
                </a:highlight>
              </a:rPr>
              <a:t>Ties: 309 (82.62%)</a:t>
            </a:r>
            <a:endParaRPr sz="2000">
              <a:solidFill>
                <a:schemeClr val="accent6"/>
              </a:solidFill>
              <a:highlight>
                <a:schemeClr val="lt1"/>
              </a:highlight>
            </a:endParaRPr>
          </a:p>
        </p:txBody>
      </p:sp>
      <p:sp>
        <p:nvSpPr>
          <p:cNvPr id="160" name="Google Shape;160;g29d76e931d2bae15_0"/>
          <p:cNvSpPr txBox="1"/>
          <p:nvPr/>
        </p:nvSpPr>
        <p:spPr>
          <a:xfrm>
            <a:off x="0" y="0"/>
            <a:ext cx="30000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accent6"/>
                </a:solidFill>
                <a:highlight>
                  <a:schemeClr val="lt1"/>
                </a:highlight>
              </a:rPr>
              <a:t>--- Logistic Regression ---</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Mean Absolute Error: (MAE): 0.5027</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Mean Squared Error (MSE): 0.5027</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R^2 Score: -1.0154</a:t>
            </a:r>
            <a:endParaRPr>
              <a:solidFill>
                <a:schemeClr val="accent6"/>
              </a:solidFill>
              <a:highlight>
                <a:schemeClr val="lt1"/>
              </a:highlight>
            </a:endParaRPr>
          </a:p>
          <a:p>
            <a:pPr indent="0" lvl="0" marL="0" rtl="0" algn="l">
              <a:spcBef>
                <a:spcPts val="0"/>
              </a:spcBef>
              <a:spcAft>
                <a:spcPts val="0"/>
              </a:spcAft>
              <a:buNone/>
            </a:pPr>
            <a:r>
              <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 Random Forest ---</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Mean Absolute Error: (MAE): 0.5053</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Mean Squared Error (MSE): 0.5053</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R^2 Score: -1.0261</a:t>
            </a:r>
            <a:endParaRPr>
              <a:solidFill>
                <a:schemeClr val="accent6"/>
              </a:solidFill>
              <a:highlight>
                <a:schemeClr val="lt1"/>
              </a:highlight>
            </a:endParaRPr>
          </a:p>
          <a:p>
            <a:pPr indent="0" lvl="0" marL="0" rtl="0" algn="l">
              <a:spcBef>
                <a:spcPts val="0"/>
              </a:spcBef>
              <a:spcAft>
                <a:spcPts val="0"/>
              </a:spcAft>
              <a:buNone/>
            </a:pPr>
            <a:r>
              <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 Model Comparison Summary ===</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Logistic Regression performs better based on MAE. (lower is better)</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Logistic Regression performs better based on MSE. (lower is better)</a:t>
            </a:r>
            <a:endParaRPr>
              <a:solidFill>
                <a:schemeClr val="accent6"/>
              </a:solidFill>
              <a:highlight>
                <a:schemeClr val="lt1"/>
              </a:highlight>
            </a:endParaRPr>
          </a:p>
          <a:p>
            <a:pPr indent="0" lvl="0" marL="0" rtl="0" algn="l">
              <a:spcBef>
                <a:spcPts val="0"/>
              </a:spcBef>
              <a:spcAft>
                <a:spcPts val="0"/>
              </a:spcAft>
              <a:buNone/>
            </a:pPr>
            <a:r>
              <a:rPr lang="en-US">
                <a:solidFill>
                  <a:schemeClr val="accent6"/>
                </a:solidFill>
                <a:highlight>
                  <a:schemeClr val="lt1"/>
                </a:highlight>
              </a:rPr>
              <a:t>Logistic Regression performs better based on R^2 Score. (higher is better)</a:t>
            </a:r>
            <a:endParaRPr>
              <a:solidFill>
                <a:schemeClr val="accent6"/>
              </a:solidFill>
              <a:highlight>
                <a:schemeClr val="lt1"/>
              </a:highlight>
            </a:endParaRPr>
          </a:p>
        </p:txBody>
      </p:sp>
      <p:pic>
        <p:nvPicPr>
          <p:cNvPr id="161" name="Google Shape;161;g29d76e931d2bae15_0"/>
          <p:cNvPicPr preferRelativeResize="0"/>
          <p:nvPr/>
        </p:nvPicPr>
        <p:blipFill>
          <a:blip r:embed="rId4">
            <a:alphaModFix/>
          </a:blip>
          <a:stretch>
            <a:fillRect/>
          </a:stretch>
        </p:blipFill>
        <p:spPr>
          <a:xfrm>
            <a:off x="6418075" y="152400"/>
            <a:ext cx="2125750" cy="1477752"/>
          </a:xfrm>
          <a:prstGeom prst="rect">
            <a:avLst/>
          </a:prstGeom>
          <a:noFill/>
          <a:ln>
            <a:noFill/>
          </a:ln>
        </p:spPr>
      </p:pic>
      <p:pic>
        <p:nvPicPr>
          <p:cNvPr id="162" name="Google Shape;162;g29d76e931d2bae15_0"/>
          <p:cNvPicPr preferRelativeResize="0"/>
          <p:nvPr/>
        </p:nvPicPr>
        <p:blipFill>
          <a:blip r:embed="rId5">
            <a:alphaModFix/>
          </a:blip>
          <a:stretch>
            <a:fillRect/>
          </a:stretch>
        </p:blipFill>
        <p:spPr>
          <a:xfrm>
            <a:off x="7483925" y="1466469"/>
            <a:ext cx="1156600" cy="116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idx="1" type="subTitle"/>
          </p:nvPr>
        </p:nvSpPr>
        <p:spPr>
          <a:xfrm>
            <a:off x="3736365" y="816580"/>
            <a:ext cx="3847800" cy="1638000"/>
          </a:xfrm>
          <a:prstGeom prst="rect">
            <a:avLst/>
          </a:prstGeom>
          <a:noFill/>
          <a:ln>
            <a:noFill/>
          </a:ln>
        </p:spPr>
        <p:txBody>
          <a:bodyPr anchorCtr="0" anchor="t" bIns="91425" lIns="91425" spcFirstLastPara="1" rIns="91425" wrap="square" tIns="91425">
            <a:noAutofit/>
          </a:bodyPr>
          <a:lstStyle/>
          <a:p>
            <a:pPr indent="0" lvl="0" marL="0" marR="0" rtl="0" algn="l">
              <a:lnSpc>
                <a:spcPct val="130000"/>
              </a:lnSpc>
              <a:spcBef>
                <a:spcPts val="0"/>
              </a:spcBef>
              <a:spcAft>
                <a:spcPts val="0"/>
              </a:spcAft>
              <a:buNone/>
            </a:pPr>
            <a:r>
              <a:rPr b="0" i="0" lang="en-US" sz="1700" u="none" cap="none" strike="noStrike">
                <a:solidFill>
                  <a:schemeClr val="dk1"/>
                </a:solidFill>
                <a:latin typeface="Anaheim"/>
                <a:ea typeface="Anaheim"/>
                <a:cs typeface="Anaheim"/>
                <a:sym typeface="Anaheim"/>
              </a:rPr>
              <a:t>Both models performed similarly; however, Logistic Regression showed a slight edge in accuracy. </a:t>
            </a:r>
            <a:endParaRPr b="0" i="0" sz="1700" u="none" cap="none" strike="noStrike">
              <a:solidFill>
                <a:schemeClr val="dk1"/>
              </a:solidFill>
              <a:latin typeface="Anaheim"/>
              <a:ea typeface="Anaheim"/>
              <a:cs typeface="Anaheim"/>
              <a:sym typeface="Anaheim"/>
            </a:endParaRPr>
          </a:p>
          <a:p>
            <a:pPr indent="0" lvl="0" marL="0" marR="0" rtl="0" algn="l">
              <a:lnSpc>
                <a:spcPct val="130000"/>
              </a:lnSpc>
              <a:spcBef>
                <a:spcPts val="0"/>
              </a:spcBef>
              <a:spcAft>
                <a:spcPts val="0"/>
              </a:spcAft>
              <a:buNone/>
            </a:pPr>
            <a:r>
              <a:t/>
            </a:r>
            <a:endParaRPr sz="1700">
              <a:solidFill>
                <a:schemeClr val="dk1"/>
              </a:solidFill>
              <a:latin typeface="Anaheim"/>
              <a:ea typeface="Anaheim"/>
              <a:cs typeface="Anaheim"/>
              <a:sym typeface="Anaheim"/>
            </a:endParaRPr>
          </a:p>
          <a:p>
            <a:pPr indent="0" lvl="0" marL="0" marR="0" rtl="0" algn="l">
              <a:lnSpc>
                <a:spcPct val="130000"/>
              </a:lnSpc>
              <a:spcBef>
                <a:spcPts val="0"/>
              </a:spcBef>
              <a:spcAft>
                <a:spcPts val="0"/>
              </a:spcAft>
              <a:buNone/>
            </a:pPr>
            <a:r>
              <a:rPr b="0" i="0" lang="en-US" sz="1700" u="none" cap="none" strike="noStrike">
                <a:solidFill>
                  <a:schemeClr val="dk1"/>
                </a:solidFill>
                <a:latin typeface="Anaheim"/>
                <a:ea typeface="Anaheim"/>
                <a:cs typeface="Anaheim"/>
                <a:sym typeface="Anaheim"/>
              </a:rPr>
              <a:t>This analysis highlights the importance of feature impact and model selection.</a:t>
            </a:r>
            <a:endParaRPr sz="1700">
              <a:solidFill>
                <a:schemeClr val="dk1"/>
              </a:solidFill>
              <a:latin typeface="Anaheim"/>
              <a:ea typeface="Anaheim"/>
              <a:cs typeface="Anaheim"/>
              <a:sym typeface="Anaheim"/>
            </a:endParaRPr>
          </a:p>
          <a:p>
            <a:pPr indent="0" lvl="0" marL="0" marR="0" rtl="0" algn="l">
              <a:lnSpc>
                <a:spcPct val="130000"/>
              </a:lnSpc>
              <a:spcBef>
                <a:spcPts val="0"/>
              </a:spcBef>
              <a:spcAft>
                <a:spcPts val="0"/>
              </a:spcAft>
              <a:buNone/>
            </a:pPr>
            <a:r>
              <a:t/>
            </a:r>
            <a:endParaRPr sz="1700">
              <a:solidFill>
                <a:schemeClr val="dk1"/>
              </a:solidFill>
              <a:latin typeface="Anaheim"/>
              <a:ea typeface="Anaheim"/>
              <a:cs typeface="Anaheim"/>
              <a:sym typeface="Anaheim"/>
            </a:endParaRPr>
          </a:p>
          <a:p>
            <a:pPr indent="0" lvl="0" marL="0" marR="0" rtl="0" algn="l">
              <a:lnSpc>
                <a:spcPct val="130000"/>
              </a:lnSpc>
              <a:spcBef>
                <a:spcPts val="0"/>
              </a:spcBef>
              <a:spcAft>
                <a:spcPts val="0"/>
              </a:spcAft>
              <a:buNone/>
            </a:pPr>
            <a:r>
              <a:rPr b="0" i="0" lang="en-US" sz="1700" u="none" cap="none" strike="noStrike">
                <a:solidFill>
                  <a:schemeClr val="dk1"/>
                </a:solidFill>
                <a:latin typeface="Anaheim"/>
                <a:ea typeface="Anaheim"/>
                <a:cs typeface="Anaheim"/>
                <a:sym typeface="Anaheim"/>
              </a:rPr>
              <a:t>Future work will focus on scaling the project and refining feature sets to enhance predictive power for larger, more complex datasets.</a:t>
            </a:r>
            <a:endParaRPr b="0" i="0" sz="1700" u="none" cap="none" strike="noStrike">
              <a:solidFill>
                <a:srgbClr val="FFFFFF"/>
              </a:solidFill>
              <a:latin typeface="Noto Sans Symbols"/>
              <a:ea typeface="Noto Sans Symbols"/>
              <a:cs typeface="Noto Sans Symbols"/>
              <a:sym typeface="Noto Sans Symbols"/>
            </a:endParaRPr>
          </a:p>
        </p:txBody>
      </p:sp>
      <p:sp>
        <p:nvSpPr>
          <p:cNvPr id="168" name="Google Shape;168;p10"/>
          <p:cNvSpPr txBox="1"/>
          <p:nvPr>
            <p:ph type="title"/>
          </p:nvPr>
        </p:nvSpPr>
        <p:spPr>
          <a:xfrm>
            <a:off x="65320" y="602040"/>
            <a:ext cx="3590700" cy="24762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Key Observations and Future</a:t>
            </a:r>
            <a:endParaRPr b="0" sz="3100" u="none" strike="noStrike">
              <a:solidFill>
                <a:schemeClr val="dk1"/>
              </a:solidFill>
              <a:latin typeface="Arial"/>
              <a:ea typeface="Arial"/>
              <a:cs typeface="Arial"/>
              <a:sym typeface="Arial"/>
            </a:endParaRPr>
          </a:p>
          <a:p>
            <a:pPr indent="0" lvl="0" marL="0" rtl="0" algn="l">
              <a:lnSpc>
                <a:spcPct val="70000"/>
              </a:lnSpc>
              <a:spcBef>
                <a:spcPts val="0"/>
              </a:spcBef>
              <a:spcAft>
                <a:spcPts val="0"/>
              </a:spcAft>
              <a:buClr>
                <a:schemeClr val="dk1"/>
              </a:buClr>
              <a:buSzPts val="3100"/>
              <a:buFont typeface="Bricolage Grotesque Medium"/>
              <a:buNone/>
            </a:pPr>
            <a:r>
              <a:rPr b="0" lang="en-US" sz="3100" u="none" strike="noStrike">
                <a:solidFill>
                  <a:schemeClr val="dk1"/>
                </a:solidFill>
                <a:latin typeface="Bricolage Grotesque Medium"/>
                <a:ea typeface="Bricolage Grotesque Medium"/>
                <a:cs typeface="Bricolage Grotesque Medium"/>
                <a:sym typeface="Bricolage Grotesque Medium"/>
              </a:rPr>
              <a:t>Directions</a:t>
            </a:r>
            <a:endParaRPr b="0" sz="3100" u="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p:nvPr/>
        </p:nvSpPr>
        <p:spPr>
          <a:xfrm>
            <a:off x="7020000" y="-2876400"/>
            <a:ext cx="4762080" cy="4762080"/>
          </a:xfrm>
          <a:prstGeom prst="rect">
            <a:avLst/>
          </a:prstGeom>
          <a:noFill/>
          <a:ln>
            <a:noFill/>
          </a:ln>
        </p:spPr>
        <p:txBody>
          <a:bodyPr anchorCtr="0" anchor="t" bIns="2381025" lIns="870823075" spcFirstLastPara="1" rIns="870823075" wrap="square" tIns="2381025">
            <a:sp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4" name="Google Shape;174;p11"/>
          <p:cNvSpPr txBox="1"/>
          <p:nvPr>
            <p:ph type="title"/>
          </p:nvPr>
        </p:nvSpPr>
        <p:spPr>
          <a:xfrm>
            <a:off x="4629240" y="228600"/>
            <a:ext cx="3904920" cy="76176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Clr>
                <a:schemeClr val="dk1"/>
              </a:buClr>
              <a:buSzPts val="2600"/>
              <a:buFont typeface="Bricolage Grotesque Medium"/>
              <a:buNone/>
            </a:pPr>
            <a:r>
              <a:rPr b="0" lang="en-US" sz="2600" u="none" strike="noStrike">
                <a:solidFill>
                  <a:schemeClr val="dk1"/>
                </a:solidFill>
                <a:latin typeface="Bricolage Grotesque Medium"/>
                <a:ea typeface="Bricolage Grotesque Medium"/>
                <a:cs typeface="Bricolage Grotesque Medium"/>
                <a:sym typeface="Bricolage Grotesque Medium"/>
              </a:rPr>
              <a:t>Conclusions</a:t>
            </a:r>
            <a:endParaRPr b="0" sz="2600" u="none" strike="noStrike">
              <a:solidFill>
                <a:schemeClr val="dk1"/>
              </a:solidFill>
              <a:latin typeface="Arial"/>
              <a:ea typeface="Arial"/>
              <a:cs typeface="Arial"/>
              <a:sym typeface="Arial"/>
            </a:endParaRPr>
          </a:p>
        </p:txBody>
      </p:sp>
      <p:sp>
        <p:nvSpPr>
          <p:cNvPr id="175" name="Google Shape;175;p11"/>
          <p:cNvSpPr txBox="1"/>
          <p:nvPr>
            <p:ph idx="1" type="subTitle"/>
          </p:nvPr>
        </p:nvSpPr>
        <p:spPr>
          <a:xfrm>
            <a:off x="4434008" y="668885"/>
            <a:ext cx="4295400" cy="1676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10"/>
              <a:buFont typeface="Anaheim"/>
              <a:buNone/>
            </a:pPr>
            <a:r>
              <a:rPr b="0" i="0" lang="en-US" sz="1310" u="none" cap="none" strike="noStrike">
                <a:solidFill>
                  <a:schemeClr val="dk1"/>
                </a:solidFill>
                <a:latin typeface="Anaheim"/>
                <a:ea typeface="Anaheim"/>
                <a:cs typeface="Anaheim"/>
                <a:sym typeface="Anaheim"/>
              </a:rPr>
              <a:t>The project demonstrated effective use of mathematical features and two predictive models to forecast a target variable. Logistic Regression performed slightly better, but both models are valuable for model comparison and understanding feature contributions. Moving forward, expanding the feature set and project scale will further improve prediction accuracy and practical application.</a:t>
            </a:r>
            <a:endParaRPr b="0" i="0" sz="1310" u="none" cap="none" strike="noStrike">
              <a:solidFill>
                <a:srgbClr val="FFFFFF"/>
              </a:solidFill>
              <a:latin typeface="Noto Sans Symbols"/>
              <a:ea typeface="Noto Sans Symbols"/>
              <a:cs typeface="Noto Sans Symbols"/>
              <a:sym typeface="Noto Sans Symbols"/>
            </a:endParaRPr>
          </a:p>
        </p:txBody>
      </p:sp>
      <p:pic>
        <p:nvPicPr>
          <p:cNvPr id="176" name="Google Shape;176;p11"/>
          <p:cNvPicPr preferRelativeResize="0"/>
          <p:nvPr/>
        </p:nvPicPr>
        <p:blipFill rotWithShape="1">
          <a:blip r:embed="rId3">
            <a:alphaModFix/>
          </a:blip>
          <a:srcRect b="3428" l="0" r="0" t="3418"/>
          <a:stretch/>
        </p:blipFill>
        <p:spPr>
          <a:xfrm>
            <a:off x="0" y="0"/>
            <a:ext cx="4294440" cy="5143320"/>
          </a:xfrm>
          <a:prstGeom prst="rect">
            <a:avLst/>
          </a:prstGeom>
          <a:noFill/>
          <a:ln>
            <a:noFill/>
          </a:ln>
        </p:spPr>
      </p:pic>
      <p:pic>
        <p:nvPicPr>
          <p:cNvPr id="177" name="Google Shape;177;p11"/>
          <p:cNvPicPr preferRelativeResize="0"/>
          <p:nvPr/>
        </p:nvPicPr>
        <p:blipFill>
          <a:blip r:embed="rId4">
            <a:alphaModFix/>
          </a:blip>
          <a:stretch>
            <a:fillRect/>
          </a:stretch>
        </p:blipFill>
        <p:spPr>
          <a:xfrm>
            <a:off x="4792890" y="2842435"/>
            <a:ext cx="1609725" cy="1409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2025-12-04T13:40:04Z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